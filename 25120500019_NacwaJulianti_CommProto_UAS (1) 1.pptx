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57" y="721931"/>
            <a:ext cx="9295765" cy="47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9112" y="1509775"/>
            <a:ext cx="5601335" cy="274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11051" y="6454667"/>
            <a:ext cx="223520" cy="177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5B6B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CtzQpca5ZO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127.0.0.1:8088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244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867775" y="0"/>
            <a:ext cx="3324225" cy="3562350"/>
            <a:chOff x="8867775" y="0"/>
            <a:chExt cx="3324225" cy="3562350"/>
          </a:xfrm>
        </p:grpSpPr>
        <p:sp>
          <p:nvSpPr>
            <p:cNvPr id="4" name="object 4"/>
            <p:cNvSpPr/>
            <p:nvPr/>
          </p:nvSpPr>
          <p:spPr>
            <a:xfrm>
              <a:off x="8867775" y="0"/>
              <a:ext cx="3324225" cy="3562350"/>
            </a:xfrm>
            <a:custGeom>
              <a:avLst/>
              <a:gdLst/>
              <a:ahLst/>
              <a:cxnLst/>
              <a:rect l="l" t="t" r="r" b="b"/>
              <a:pathLst>
                <a:path w="3324225" h="3562350">
                  <a:moveTo>
                    <a:pt x="3324225" y="0"/>
                  </a:moveTo>
                  <a:lnTo>
                    <a:pt x="228078" y="0"/>
                  </a:lnTo>
                  <a:lnTo>
                    <a:pt x="225073" y="6441"/>
                  </a:lnTo>
                  <a:lnTo>
                    <a:pt x="206583" y="48026"/>
                  </a:lnTo>
                  <a:lnTo>
                    <a:pt x="188828" y="90004"/>
                  </a:lnTo>
                  <a:lnTo>
                    <a:pt x="171815" y="132365"/>
                  </a:lnTo>
                  <a:lnTo>
                    <a:pt x="155553" y="175103"/>
                  </a:lnTo>
                  <a:lnTo>
                    <a:pt x="140050" y="218209"/>
                  </a:lnTo>
                  <a:lnTo>
                    <a:pt x="125313" y="261675"/>
                  </a:lnTo>
                  <a:lnTo>
                    <a:pt x="111351" y="305492"/>
                  </a:lnTo>
                  <a:lnTo>
                    <a:pt x="98172" y="349652"/>
                  </a:lnTo>
                  <a:lnTo>
                    <a:pt x="85785" y="394148"/>
                  </a:lnTo>
                  <a:lnTo>
                    <a:pt x="74197" y="438972"/>
                  </a:lnTo>
                  <a:lnTo>
                    <a:pt x="63416" y="484114"/>
                  </a:lnTo>
                  <a:lnTo>
                    <a:pt x="53451" y="529568"/>
                  </a:lnTo>
                  <a:lnTo>
                    <a:pt x="44310" y="575324"/>
                  </a:lnTo>
                  <a:lnTo>
                    <a:pt x="36001" y="621375"/>
                  </a:lnTo>
                  <a:lnTo>
                    <a:pt x="28532" y="667712"/>
                  </a:lnTo>
                  <a:lnTo>
                    <a:pt x="21911" y="714328"/>
                  </a:lnTo>
                  <a:lnTo>
                    <a:pt x="16147" y="761214"/>
                  </a:lnTo>
                  <a:lnTo>
                    <a:pt x="11247" y="808362"/>
                  </a:lnTo>
                  <a:lnTo>
                    <a:pt x="7219" y="855764"/>
                  </a:lnTo>
                  <a:lnTo>
                    <a:pt x="4073" y="903412"/>
                  </a:lnTo>
                  <a:lnTo>
                    <a:pt x="1815" y="951298"/>
                  </a:lnTo>
                  <a:lnTo>
                    <a:pt x="455" y="999413"/>
                  </a:lnTo>
                  <a:lnTo>
                    <a:pt x="0" y="1047750"/>
                  </a:lnTo>
                  <a:lnTo>
                    <a:pt x="455" y="1096086"/>
                  </a:lnTo>
                  <a:lnTo>
                    <a:pt x="1815" y="1144201"/>
                  </a:lnTo>
                  <a:lnTo>
                    <a:pt x="4073" y="1192087"/>
                  </a:lnTo>
                  <a:lnTo>
                    <a:pt x="7219" y="1239735"/>
                  </a:lnTo>
                  <a:lnTo>
                    <a:pt x="11247" y="1287137"/>
                  </a:lnTo>
                  <a:lnTo>
                    <a:pt x="16147" y="1334285"/>
                  </a:lnTo>
                  <a:lnTo>
                    <a:pt x="21911" y="1381171"/>
                  </a:lnTo>
                  <a:lnTo>
                    <a:pt x="28532" y="1427787"/>
                  </a:lnTo>
                  <a:lnTo>
                    <a:pt x="36001" y="1474124"/>
                  </a:lnTo>
                  <a:lnTo>
                    <a:pt x="44310" y="1520175"/>
                  </a:lnTo>
                  <a:lnTo>
                    <a:pt x="53451" y="1565931"/>
                  </a:lnTo>
                  <a:lnTo>
                    <a:pt x="63416" y="1611385"/>
                  </a:lnTo>
                  <a:lnTo>
                    <a:pt x="74197" y="1656527"/>
                  </a:lnTo>
                  <a:lnTo>
                    <a:pt x="85785" y="1701351"/>
                  </a:lnTo>
                  <a:lnTo>
                    <a:pt x="98172" y="1745847"/>
                  </a:lnTo>
                  <a:lnTo>
                    <a:pt x="111351" y="1790007"/>
                  </a:lnTo>
                  <a:lnTo>
                    <a:pt x="125313" y="1833824"/>
                  </a:lnTo>
                  <a:lnTo>
                    <a:pt x="140050" y="1877290"/>
                  </a:lnTo>
                  <a:lnTo>
                    <a:pt x="155553" y="1920396"/>
                  </a:lnTo>
                  <a:lnTo>
                    <a:pt x="171815" y="1963134"/>
                  </a:lnTo>
                  <a:lnTo>
                    <a:pt x="188828" y="2005495"/>
                  </a:lnTo>
                  <a:lnTo>
                    <a:pt x="206583" y="2047473"/>
                  </a:lnTo>
                  <a:lnTo>
                    <a:pt x="225073" y="2089058"/>
                  </a:lnTo>
                  <a:lnTo>
                    <a:pt x="244288" y="2130243"/>
                  </a:lnTo>
                  <a:lnTo>
                    <a:pt x="264222" y="2171019"/>
                  </a:lnTo>
                  <a:lnTo>
                    <a:pt x="284865" y="2211378"/>
                  </a:lnTo>
                  <a:lnTo>
                    <a:pt x="306210" y="2251312"/>
                  </a:lnTo>
                  <a:lnTo>
                    <a:pt x="328249" y="2290813"/>
                  </a:lnTo>
                  <a:lnTo>
                    <a:pt x="350973" y="2329873"/>
                  </a:lnTo>
                  <a:lnTo>
                    <a:pt x="374375" y="2368484"/>
                  </a:lnTo>
                  <a:lnTo>
                    <a:pt x="398445" y="2406637"/>
                  </a:lnTo>
                  <a:lnTo>
                    <a:pt x="423176" y="2444325"/>
                  </a:lnTo>
                  <a:lnTo>
                    <a:pt x="448561" y="2481539"/>
                  </a:lnTo>
                  <a:lnTo>
                    <a:pt x="474590" y="2518271"/>
                  </a:lnTo>
                  <a:lnTo>
                    <a:pt x="501255" y="2554512"/>
                  </a:lnTo>
                  <a:lnTo>
                    <a:pt x="528549" y="2590256"/>
                  </a:lnTo>
                  <a:lnTo>
                    <a:pt x="556464" y="2625493"/>
                  </a:lnTo>
                  <a:lnTo>
                    <a:pt x="584990" y="2660216"/>
                  </a:lnTo>
                  <a:lnTo>
                    <a:pt x="614121" y="2694417"/>
                  </a:lnTo>
                  <a:lnTo>
                    <a:pt x="643847" y="2728086"/>
                  </a:lnTo>
                  <a:lnTo>
                    <a:pt x="674161" y="2761217"/>
                  </a:lnTo>
                  <a:lnTo>
                    <a:pt x="705055" y="2793800"/>
                  </a:lnTo>
                  <a:lnTo>
                    <a:pt x="736520" y="2825829"/>
                  </a:lnTo>
                  <a:lnTo>
                    <a:pt x="768549" y="2857294"/>
                  </a:lnTo>
                  <a:lnTo>
                    <a:pt x="801132" y="2888188"/>
                  </a:lnTo>
                  <a:lnTo>
                    <a:pt x="834263" y="2918502"/>
                  </a:lnTo>
                  <a:lnTo>
                    <a:pt x="867932" y="2948228"/>
                  </a:lnTo>
                  <a:lnTo>
                    <a:pt x="902133" y="2977359"/>
                  </a:lnTo>
                  <a:lnTo>
                    <a:pt x="936856" y="3005885"/>
                  </a:lnTo>
                  <a:lnTo>
                    <a:pt x="972093" y="3033800"/>
                  </a:lnTo>
                  <a:lnTo>
                    <a:pt x="1007837" y="3061094"/>
                  </a:lnTo>
                  <a:lnTo>
                    <a:pt x="1044078" y="3087759"/>
                  </a:lnTo>
                  <a:lnTo>
                    <a:pt x="1080810" y="3113788"/>
                  </a:lnTo>
                  <a:lnTo>
                    <a:pt x="1118024" y="3139173"/>
                  </a:lnTo>
                  <a:lnTo>
                    <a:pt x="1155712" y="3163904"/>
                  </a:lnTo>
                  <a:lnTo>
                    <a:pt x="1193865" y="3187974"/>
                  </a:lnTo>
                  <a:lnTo>
                    <a:pt x="1232476" y="3211376"/>
                  </a:lnTo>
                  <a:lnTo>
                    <a:pt x="1271536" y="3234100"/>
                  </a:lnTo>
                  <a:lnTo>
                    <a:pt x="1311037" y="3256139"/>
                  </a:lnTo>
                  <a:lnTo>
                    <a:pt x="1350971" y="3277484"/>
                  </a:lnTo>
                  <a:lnTo>
                    <a:pt x="1391330" y="3298127"/>
                  </a:lnTo>
                  <a:lnTo>
                    <a:pt x="1432106" y="3318061"/>
                  </a:lnTo>
                  <a:lnTo>
                    <a:pt x="1473291" y="3337276"/>
                  </a:lnTo>
                  <a:lnTo>
                    <a:pt x="1514876" y="3355766"/>
                  </a:lnTo>
                  <a:lnTo>
                    <a:pt x="1556854" y="3373521"/>
                  </a:lnTo>
                  <a:lnTo>
                    <a:pt x="1599215" y="3390534"/>
                  </a:lnTo>
                  <a:lnTo>
                    <a:pt x="1641953" y="3406796"/>
                  </a:lnTo>
                  <a:lnTo>
                    <a:pt x="1685059" y="3422299"/>
                  </a:lnTo>
                  <a:lnTo>
                    <a:pt x="1728525" y="3437036"/>
                  </a:lnTo>
                  <a:lnTo>
                    <a:pt x="1772342" y="3450998"/>
                  </a:lnTo>
                  <a:lnTo>
                    <a:pt x="1816502" y="3464177"/>
                  </a:lnTo>
                  <a:lnTo>
                    <a:pt x="1860998" y="3476564"/>
                  </a:lnTo>
                  <a:lnTo>
                    <a:pt x="1905822" y="3488152"/>
                  </a:lnTo>
                  <a:lnTo>
                    <a:pt x="1950964" y="3498933"/>
                  </a:lnTo>
                  <a:lnTo>
                    <a:pt x="1996418" y="3508898"/>
                  </a:lnTo>
                  <a:lnTo>
                    <a:pt x="2042174" y="3518039"/>
                  </a:lnTo>
                  <a:lnTo>
                    <a:pt x="2088225" y="3526348"/>
                  </a:lnTo>
                  <a:lnTo>
                    <a:pt x="2134562" y="3533817"/>
                  </a:lnTo>
                  <a:lnTo>
                    <a:pt x="2181178" y="3540438"/>
                  </a:lnTo>
                  <a:lnTo>
                    <a:pt x="2228064" y="3546202"/>
                  </a:lnTo>
                  <a:lnTo>
                    <a:pt x="2275212" y="3551102"/>
                  </a:lnTo>
                  <a:lnTo>
                    <a:pt x="2322614" y="3555130"/>
                  </a:lnTo>
                  <a:lnTo>
                    <a:pt x="2370262" y="3558276"/>
                  </a:lnTo>
                  <a:lnTo>
                    <a:pt x="2418148" y="3560534"/>
                  </a:lnTo>
                  <a:lnTo>
                    <a:pt x="2466263" y="3561894"/>
                  </a:lnTo>
                  <a:lnTo>
                    <a:pt x="2514600" y="3562350"/>
                  </a:lnTo>
                  <a:lnTo>
                    <a:pt x="2562936" y="3561894"/>
                  </a:lnTo>
                  <a:lnTo>
                    <a:pt x="2611051" y="3560534"/>
                  </a:lnTo>
                  <a:lnTo>
                    <a:pt x="2658937" y="3558276"/>
                  </a:lnTo>
                  <a:lnTo>
                    <a:pt x="2706585" y="3555130"/>
                  </a:lnTo>
                  <a:lnTo>
                    <a:pt x="2753987" y="3551102"/>
                  </a:lnTo>
                  <a:lnTo>
                    <a:pt x="2801135" y="3546202"/>
                  </a:lnTo>
                  <a:lnTo>
                    <a:pt x="2848021" y="3540438"/>
                  </a:lnTo>
                  <a:lnTo>
                    <a:pt x="2894637" y="3533817"/>
                  </a:lnTo>
                  <a:lnTo>
                    <a:pt x="2940974" y="3526348"/>
                  </a:lnTo>
                  <a:lnTo>
                    <a:pt x="2987025" y="3518039"/>
                  </a:lnTo>
                  <a:lnTo>
                    <a:pt x="3032781" y="3508898"/>
                  </a:lnTo>
                  <a:lnTo>
                    <a:pt x="3078235" y="3498933"/>
                  </a:lnTo>
                  <a:lnTo>
                    <a:pt x="3123377" y="3488152"/>
                  </a:lnTo>
                  <a:lnTo>
                    <a:pt x="3168201" y="3476564"/>
                  </a:lnTo>
                  <a:lnTo>
                    <a:pt x="3212697" y="3464177"/>
                  </a:lnTo>
                  <a:lnTo>
                    <a:pt x="3256857" y="3450998"/>
                  </a:lnTo>
                  <a:lnTo>
                    <a:pt x="3300674" y="3437036"/>
                  </a:lnTo>
                  <a:lnTo>
                    <a:pt x="3324225" y="3429052"/>
                  </a:lnTo>
                  <a:lnTo>
                    <a:pt x="3324225" y="0"/>
                  </a:lnTo>
                  <a:close/>
                </a:path>
              </a:pathLst>
            </a:custGeom>
            <a:solidFill>
              <a:srgbClr val="123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696450" y="0"/>
              <a:ext cx="2495550" cy="2743200"/>
            </a:xfrm>
            <a:custGeom>
              <a:avLst/>
              <a:gdLst/>
              <a:ahLst/>
              <a:cxnLst/>
              <a:rect l="l" t="t" r="r" b="b"/>
              <a:pathLst>
                <a:path w="2495550" h="2743200">
                  <a:moveTo>
                    <a:pt x="2495550" y="0"/>
                  </a:moveTo>
                  <a:lnTo>
                    <a:pt x="367617" y="0"/>
                  </a:lnTo>
                  <a:lnTo>
                    <a:pt x="347715" y="25281"/>
                  </a:lnTo>
                  <a:lnTo>
                    <a:pt x="320915" y="61239"/>
                  </a:lnTo>
                  <a:lnTo>
                    <a:pt x="295055" y="97923"/>
                  </a:lnTo>
                  <a:lnTo>
                    <a:pt x="270152" y="135315"/>
                  </a:lnTo>
                  <a:lnTo>
                    <a:pt x="246225" y="173397"/>
                  </a:lnTo>
                  <a:lnTo>
                    <a:pt x="223291" y="212151"/>
                  </a:lnTo>
                  <a:lnTo>
                    <a:pt x="201369" y="251559"/>
                  </a:lnTo>
                  <a:lnTo>
                    <a:pt x="180475" y="291603"/>
                  </a:lnTo>
                  <a:lnTo>
                    <a:pt x="160628" y="332267"/>
                  </a:lnTo>
                  <a:lnTo>
                    <a:pt x="141846" y="373530"/>
                  </a:lnTo>
                  <a:lnTo>
                    <a:pt x="124146" y="415377"/>
                  </a:lnTo>
                  <a:lnTo>
                    <a:pt x="107546" y="457789"/>
                  </a:lnTo>
                  <a:lnTo>
                    <a:pt x="92065" y="500748"/>
                  </a:lnTo>
                  <a:lnTo>
                    <a:pt x="77720" y="544237"/>
                  </a:lnTo>
                  <a:lnTo>
                    <a:pt x="64529" y="588237"/>
                  </a:lnTo>
                  <a:lnTo>
                    <a:pt x="52509" y="632731"/>
                  </a:lnTo>
                  <a:lnTo>
                    <a:pt x="41679" y="677701"/>
                  </a:lnTo>
                  <a:lnTo>
                    <a:pt x="32056" y="723128"/>
                  </a:lnTo>
                  <a:lnTo>
                    <a:pt x="23658" y="768996"/>
                  </a:lnTo>
                  <a:lnTo>
                    <a:pt x="16503" y="815286"/>
                  </a:lnTo>
                  <a:lnTo>
                    <a:pt x="10610" y="861981"/>
                  </a:lnTo>
                  <a:lnTo>
                    <a:pt x="5994" y="909063"/>
                  </a:lnTo>
                  <a:lnTo>
                    <a:pt x="2676" y="956513"/>
                  </a:lnTo>
                  <a:lnTo>
                    <a:pt x="672" y="1004314"/>
                  </a:lnTo>
                  <a:lnTo>
                    <a:pt x="0" y="1052449"/>
                  </a:lnTo>
                  <a:lnTo>
                    <a:pt x="672" y="1100589"/>
                  </a:lnTo>
                  <a:lnTo>
                    <a:pt x="2676" y="1148397"/>
                  </a:lnTo>
                  <a:lnTo>
                    <a:pt x="5994" y="1195853"/>
                  </a:lnTo>
                  <a:lnTo>
                    <a:pt x="10610" y="1242940"/>
                  </a:lnTo>
                  <a:lnTo>
                    <a:pt x="16503" y="1289641"/>
                  </a:lnTo>
                  <a:lnTo>
                    <a:pt x="23658" y="1335936"/>
                  </a:lnTo>
                  <a:lnTo>
                    <a:pt x="32056" y="1381809"/>
                  </a:lnTo>
                  <a:lnTo>
                    <a:pt x="41679" y="1427242"/>
                  </a:lnTo>
                  <a:lnTo>
                    <a:pt x="52509" y="1472217"/>
                  </a:lnTo>
                  <a:lnTo>
                    <a:pt x="64529" y="1516715"/>
                  </a:lnTo>
                  <a:lnTo>
                    <a:pt x="77720" y="1560719"/>
                  </a:lnTo>
                  <a:lnTo>
                    <a:pt x="92065" y="1604212"/>
                  </a:lnTo>
                  <a:lnTo>
                    <a:pt x="107546" y="1647175"/>
                  </a:lnTo>
                  <a:lnTo>
                    <a:pt x="124146" y="1689591"/>
                  </a:lnTo>
                  <a:lnTo>
                    <a:pt x="141846" y="1731442"/>
                  </a:lnTo>
                  <a:lnTo>
                    <a:pt x="160628" y="1772709"/>
                  </a:lnTo>
                  <a:lnTo>
                    <a:pt x="180475" y="1813376"/>
                  </a:lnTo>
                  <a:lnTo>
                    <a:pt x="201369" y="1853424"/>
                  </a:lnTo>
                  <a:lnTo>
                    <a:pt x="223291" y="1892835"/>
                  </a:lnTo>
                  <a:lnTo>
                    <a:pt x="246225" y="1931592"/>
                  </a:lnTo>
                  <a:lnTo>
                    <a:pt x="270152" y="1969676"/>
                  </a:lnTo>
                  <a:lnTo>
                    <a:pt x="295055" y="2007071"/>
                  </a:lnTo>
                  <a:lnTo>
                    <a:pt x="320915" y="2043757"/>
                  </a:lnTo>
                  <a:lnTo>
                    <a:pt x="347715" y="2079718"/>
                  </a:lnTo>
                  <a:lnTo>
                    <a:pt x="375437" y="2114935"/>
                  </a:lnTo>
                  <a:lnTo>
                    <a:pt x="404063" y="2149391"/>
                  </a:lnTo>
                  <a:lnTo>
                    <a:pt x="433576" y="2183067"/>
                  </a:lnTo>
                  <a:lnTo>
                    <a:pt x="463957" y="2215946"/>
                  </a:lnTo>
                  <a:lnTo>
                    <a:pt x="495188" y="2248011"/>
                  </a:lnTo>
                  <a:lnTo>
                    <a:pt x="527253" y="2279242"/>
                  </a:lnTo>
                  <a:lnTo>
                    <a:pt x="560132" y="2309623"/>
                  </a:lnTo>
                  <a:lnTo>
                    <a:pt x="593808" y="2339136"/>
                  </a:lnTo>
                  <a:lnTo>
                    <a:pt x="628264" y="2367762"/>
                  </a:lnTo>
                  <a:lnTo>
                    <a:pt x="663481" y="2395484"/>
                  </a:lnTo>
                  <a:lnTo>
                    <a:pt x="699442" y="2422284"/>
                  </a:lnTo>
                  <a:lnTo>
                    <a:pt x="736128" y="2448144"/>
                  </a:lnTo>
                  <a:lnTo>
                    <a:pt x="773523" y="2473047"/>
                  </a:lnTo>
                  <a:lnTo>
                    <a:pt x="811607" y="2496974"/>
                  </a:lnTo>
                  <a:lnTo>
                    <a:pt x="850364" y="2519908"/>
                  </a:lnTo>
                  <a:lnTo>
                    <a:pt x="889775" y="2541830"/>
                  </a:lnTo>
                  <a:lnTo>
                    <a:pt x="929823" y="2562724"/>
                  </a:lnTo>
                  <a:lnTo>
                    <a:pt x="970490" y="2582571"/>
                  </a:lnTo>
                  <a:lnTo>
                    <a:pt x="1011757" y="2601353"/>
                  </a:lnTo>
                  <a:lnTo>
                    <a:pt x="1053608" y="2619053"/>
                  </a:lnTo>
                  <a:lnTo>
                    <a:pt x="1096024" y="2635653"/>
                  </a:lnTo>
                  <a:lnTo>
                    <a:pt x="1138987" y="2651134"/>
                  </a:lnTo>
                  <a:lnTo>
                    <a:pt x="1182480" y="2665479"/>
                  </a:lnTo>
                  <a:lnTo>
                    <a:pt x="1226484" y="2678670"/>
                  </a:lnTo>
                  <a:lnTo>
                    <a:pt x="1270982" y="2690690"/>
                  </a:lnTo>
                  <a:lnTo>
                    <a:pt x="1315957" y="2701520"/>
                  </a:lnTo>
                  <a:lnTo>
                    <a:pt x="1361390" y="2711143"/>
                  </a:lnTo>
                  <a:lnTo>
                    <a:pt x="1407263" y="2719541"/>
                  </a:lnTo>
                  <a:lnTo>
                    <a:pt x="1453558" y="2726696"/>
                  </a:lnTo>
                  <a:lnTo>
                    <a:pt x="1500259" y="2732589"/>
                  </a:lnTo>
                  <a:lnTo>
                    <a:pt x="1547346" y="2737205"/>
                  </a:lnTo>
                  <a:lnTo>
                    <a:pt x="1594802" y="2740523"/>
                  </a:lnTo>
                  <a:lnTo>
                    <a:pt x="1642610" y="2742527"/>
                  </a:lnTo>
                  <a:lnTo>
                    <a:pt x="1690751" y="2743200"/>
                  </a:lnTo>
                  <a:lnTo>
                    <a:pt x="1738885" y="2742527"/>
                  </a:lnTo>
                  <a:lnTo>
                    <a:pt x="1786686" y="2740523"/>
                  </a:lnTo>
                  <a:lnTo>
                    <a:pt x="1834136" y="2737205"/>
                  </a:lnTo>
                  <a:lnTo>
                    <a:pt x="1881218" y="2732589"/>
                  </a:lnTo>
                  <a:lnTo>
                    <a:pt x="1927913" y="2726696"/>
                  </a:lnTo>
                  <a:lnTo>
                    <a:pt x="1974203" y="2719541"/>
                  </a:lnTo>
                  <a:lnTo>
                    <a:pt x="2020071" y="2711143"/>
                  </a:lnTo>
                  <a:lnTo>
                    <a:pt x="2065498" y="2701520"/>
                  </a:lnTo>
                  <a:lnTo>
                    <a:pt x="2110468" y="2690690"/>
                  </a:lnTo>
                  <a:lnTo>
                    <a:pt x="2154962" y="2678670"/>
                  </a:lnTo>
                  <a:lnTo>
                    <a:pt x="2198962" y="2665479"/>
                  </a:lnTo>
                  <a:lnTo>
                    <a:pt x="2242451" y="2651134"/>
                  </a:lnTo>
                  <a:lnTo>
                    <a:pt x="2285410" y="2635653"/>
                  </a:lnTo>
                  <a:lnTo>
                    <a:pt x="2327822" y="2619053"/>
                  </a:lnTo>
                  <a:lnTo>
                    <a:pt x="2369669" y="2601353"/>
                  </a:lnTo>
                  <a:lnTo>
                    <a:pt x="2410932" y="2582571"/>
                  </a:lnTo>
                  <a:lnTo>
                    <a:pt x="2451596" y="2562724"/>
                  </a:lnTo>
                  <a:lnTo>
                    <a:pt x="2491640" y="2541830"/>
                  </a:lnTo>
                  <a:lnTo>
                    <a:pt x="2495550" y="2539656"/>
                  </a:lnTo>
                  <a:lnTo>
                    <a:pt x="2495550" y="0"/>
                  </a:lnTo>
                  <a:close/>
                </a:path>
              </a:pathLst>
            </a:custGeom>
            <a:solidFill>
              <a:srgbClr val="1C7192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4391025"/>
            <a:ext cx="2190750" cy="2466975"/>
          </a:xfrm>
          <a:custGeom>
            <a:avLst/>
            <a:gdLst/>
            <a:ahLst/>
            <a:cxnLst/>
            <a:rect l="l" t="t" r="r" b="b"/>
            <a:pathLst>
              <a:path w="2190750" h="2466975">
                <a:moveTo>
                  <a:pt x="271462" y="0"/>
                </a:moveTo>
                <a:lnTo>
                  <a:pt x="223421" y="589"/>
                </a:lnTo>
                <a:lnTo>
                  <a:pt x="175670" y="2348"/>
                </a:lnTo>
                <a:lnTo>
                  <a:pt x="128223" y="5264"/>
                </a:lnTo>
                <a:lnTo>
                  <a:pt x="81094" y="9322"/>
                </a:lnTo>
                <a:lnTo>
                  <a:pt x="34296" y="14508"/>
                </a:lnTo>
                <a:lnTo>
                  <a:pt x="0" y="19160"/>
                </a:lnTo>
                <a:lnTo>
                  <a:pt x="0" y="2466975"/>
                </a:lnTo>
                <a:lnTo>
                  <a:pt x="2111399" y="2466975"/>
                </a:lnTo>
                <a:lnTo>
                  <a:pt x="2122192" y="2429510"/>
                </a:lnTo>
                <a:lnTo>
                  <a:pt x="2133861" y="2384989"/>
                </a:lnTo>
                <a:lnTo>
                  <a:pt x="2144484" y="2340054"/>
                </a:lnTo>
                <a:lnTo>
                  <a:pt x="2154048" y="2294720"/>
                </a:lnTo>
                <a:lnTo>
                  <a:pt x="2162537" y="2248999"/>
                </a:lnTo>
                <a:lnTo>
                  <a:pt x="2169940" y="2202905"/>
                </a:lnTo>
                <a:lnTo>
                  <a:pt x="2176241" y="2156453"/>
                </a:lnTo>
                <a:lnTo>
                  <a:pt x="2181427" y="2109655"/>
                </a:lnTo>
                <a:lnTo>
                  <a:pt x="2185485" y="2062526"/>
                </a:lnTo>
                <a:lnTo>
                  <a:pt x="2188401" y="2015079"/>
                </a:lnTo>
                <a:lnTo>
                  <a:pt x="2190160" y="1967328"/>
                </a:lnTo>
                <a:lnTo>
                  <a:pt x="2190750" y="1919287"/>
                </a:lnTo>
                <a:lnTo>
                  <a:pt x="2190160" y="1871245"/>
                </a:lnTo>
                <a:lnTo>
                  <a:pt x="2188401" y="1823494"/>
                </a:lnTo>
                <a:lnTo>
                  <a:pt x="2185485" y="1776047"/>
                </a:lnTo>
                <a:lnTo>
                  <a:pt x="2181427" y="1728917"/>
                </a:lnTo>
                <a:lnTo>
                  <a:pt x="2176241" y="1682119"/>
                </a:lnTo>
                <a:lnTo>
                  <a:pt x="2169940" y="1635666"/>
                </a:lnTo>
                <a:lnTo>
                  <a:pt x="2162537" y="1589572"/>
                </a:lnTo>
                <a:lnTo>
                  <a:pt x="2154048" y="1543851"/>
                </a:lnTo>
                <a:lnTo>
                  <a:pt x="2144484" y="1498516"/>
                </a:lnTo>
                <a:lnTo>
                  <a:pt x="2133861" y="1453581"/>
                </a:lnTo>
                <a:lnTo>
                  <a:pt x="2122192" y="1409060"/>
                </a:lnTo>
                <a:lnTo>
                  <a:pt x="2109490" y="1364967"/>
                </a:lnTo>
                <a:lnTo>
                  <a:pt x="2095769" y="1321315"/>
                </a:lnTo>
                <a:lnTo>
                  <a:pt x="2081044" y="1278119"/>
                </a:lnTo>
                <a:lnTo>
                  <a:pt x="2065327" y="1235391"/>
                </a:lnTo>
                <a:lnTo>
                  <a:pt x="2048633" y="1193146"/>
                </a:lnTo>
                <a:lnTo>
                  <a:pt x="2030976" y="1151397"/>
                </a:lnTo>
                <a:lnTo>
                  <a:pt x="2012368" y="1110159"/>
                </a:lnTo>
                <a:lnTo>
                  <a:pt x="1992824" y="1069444"/>
                </a:lnTo>
                <a:lnTo>
                  <a:pt x="1972358" y="1029267"/>
                </a:lnTo>
                <a:lnTo>
                  <a:pt x="1950983" y="989641"/>
                </a:lnTo>
                <a:lnTo>
                  <a:pt x="1928713" y="950580"/>
                </a:lnTo>
                <a:lnTo>
                  <a:pt x="1905562" y="912099"/>
                </a:lnTo>
                <a:lnTo>
                  <a:pt x="1881544" y="874209"/>
                </a:lnTo>
                <a:lnTo>
                  <a:pt x="1856671" y="836927"/>
                </a:lnTo>
                <a:lnTo>
                  <a:pt x="1830959" y="800264"/>
                </a:lnTo>
                <a:lnTo>
                  <a:pt x="1804420" y="764235"/>
                </a:lnTo>
                <a:lnTo>
                  <a:pt x="1777069" y="728854"/>
                </a:lnTo>
                <a:lnTo>
                  <a:pt x="1748920" y="694133"/>
                </a:lnTo>
                <a:lnTo>
                  <a:pt x="1719985" y="660088"/>
                </a:lnTo>
                <a:lnTo>
                  <a:pt x="1690279" y="626732"/>
                </a:lnTo>
                <a:lnTo>
                  <a:pt x="1659815" y="594079"/>
                </a:lnTo>
                <a:lnTo>
                  <a:pt x="1628608" y="562141"/>
                </a:lnTo>
                <a:lnTo>
                  <a:pt x="1596670" y="530934"/>
                </a:lnTo>
                <a:lnTo>
                  <a:pt x="1564017" y="500470"/>
                </a:lnTo>
                <a:lnTo>
                  <a:pt x="1530661" y="470764"/>
                </a:lnTo>
                <a:lnTo>
                  <a:pt x="1496616" y="441829"/>
                </a:lnTo>
                <a:lnTo>
                  <a:pt x="1461895" y="413680"/>
                </a:lnTo>
                <a:lnTo>
                  <a:pt x="1426514" y="386329"/>
                </a:lnTo>
                <a:lnTo>
                  <a:pt x="1390485" y="359790"/>
                </a:lnTo>
                <a:lnTo>
                  <a:pt x="1353822" y="334078"/>
                </a:lnTo>
                <a:lnTo>
                  <a:pt x="1316540" y="309205"/>
                </a:lnTo>
                <a:lnTo>
                  <a:pt x="1278650" y="285187"/>
                </a:lnTo>
                <a:lnTo>
                  <a:pt x="1240169" y="262036"/>
                </a:lnTo>
                <a:lnTo>
                  <a:pt x="1201108" y="239766"/>
                </a:lnTo>
                <a:lnTo>
                  <a:pt x="1161482" y="218391"/>
                </a:lnTo>
                <a:lnTo>
                  <a:pt x="1121305" y="197925"/>
                </a:lnTo>
                <a:lnTo>
                  <a:pt x="1080590" y="178381"/>
                </a:lnTo>
                <a:lnTo>
                  <a:pt x="1039352" y="159773"/>
                </a:lnTo>
                <a:lnTo>
                  <a:pt x="997603" y="142116"/>
                </a:lnTo>
                <a:lnTo>
                  <a:pt x="955358" y="125422"/>
                </a:lnTo>
                <a:lnTo>
                  <a:pt x="912630" y="109705"/>
                </a:lnTo>
                <a:lnTo>
                  <a:pt x="869434" y="94980"/>
                </a:lnTo>
                <a:lnTo>
                  <a:pt x="825782" y="81259"/>
                </a:lnTo>
                <a:lnTo>
                  <a:pt x="781689" y="68557"/>
                </a:lnTo>
                <a:lnTo>
                  <a:pt x="737168" y="56888"/>
                </a:lnTo>
                <a:lnTo>
                  <a:pt x="692233" y="46265"/>
                </a:lnTo>
                <a:lnTo>
                  <a:pt x="646898" y="36701"/>
                </a:lnTo>
                <a:lnTo>
                  <a:pt x="601177" y="28212"/>
                </a:lnTo>
                <a:lnTo>
                  <a:pt x="555083" y="20809"/>
                </a:lnTo>
                <a:lnTo>
                  <a:pt x="508630" y="14508"/>
                </a:lnTo>
                <a:lnTo>
                  <a:pt x="461832" y="9322"/>
                </a:lnTo>
                <a:lnTo>
                  <a:pt x="414702" y="5264"/>
                </a:lnTo>
                <a:lnTo>
                  <a:pt x="367255" y="2348"/>
                </a:lnTo>
                <a:lnTo>
                  <a:pt x="319504" y="589"/>
                </a:lnTo>
                <a:lnTo>
                  <a:pt x="271462" y="0"/>
                </a:lnTo>
                <a:close/>
              </a:path>
            </a:pathLst>
          </a:custGeom>
          <a:solidFill>
            <a:srgbClr val="1230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894" y="1297622"/>
            <a:ext cx="556006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U</a:t>
            </a:r>
            <a:r>
              <a:rPr dirty="0" sz="1250" spc="-6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A</a:t>
            </a:r>
            <a:r>
              <a:rPr dirty="0" sz="12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S</a:t>
            </a:r>
            <a:r>
              <a:rPr dirty="0" sz="1250" spc="105" b="1">
                <a:solidFill>
                  <a:srgbClr val="F4A200"/>
                </a:solidFill>
                <a:latin typeface="Calibri"/>
                <a:cs typeface="Calibri"/>
              </a:rPr>
              <a:t> 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M</a:t>
            </a:r>
            <a:r>
              <a:rPr dirty="0" sz="1250" spc="-4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N</a:t>
            </a:r>
            <a:r>
              <a:rPr dirty="0" sz="1250" spc="-7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50" spc="4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P</a:t>
            </a:r>
            <a:r>
              <a:rPr dirty="0" sz="1250" spc="-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R</a:t>
            </a:r>
            <a:r>
              <a:rPr dirty="0" sz="1250" spc="-10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250" spc="-1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J</a:t>
            </a:r>
            <a:r>
              <a:rPr dirty="0" sz="1250" spc="-10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E</a:t>
            </a:r>
            <a:r>
              <a:rPr dirty="0" sz="1250" spc="-7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C</a:t>
            </a:r>
            <a:r>
              <a:rPr dirty="0" sz="1250" spc="-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T</a:t>
            </a:r>
            <a:r>
              <a:rPr dirty="0" sz="1250" spc="46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N</a:t>
            </a:r>
            <a:r>
              <a:rPr dirty="0" sz="125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D</a:t>
            </a:r>
            <a:r>
              <a:rPr dirty="0" sz="1250" spc="-3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V</a:t>
            </a:r>
            <a:r>
              <a:rPr dirty="0" sz="1250" spc="-6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50" spc="-1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D</a:t>
            </a:r>
            <a:r>
              <a:rPr dirty="0" sz="1250" spc="-11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U</a:t>
            </a:r>
            <a:r>
              <a:rPr dirty="0" sz="1250" spc="114" b="1">
                <a:solidFill>
                  <a:srgbClr val="F4A200"/>
                </a:solidFill>
                <a:latin typeface="Calibri"/>
                <a:cs typeface="Calibri"/>
              </a:rPr>
              <a:t> 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—</a:t>
            </a:r>
            <a:r>
              <a:rPr dirty="0" sz="1250" spc="47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C</a:t>
            </a:r>
            <a:r>
              <a:rPr dirty="0" sz="1250" spc="-5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2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M</a:t>
            </a:r>
            <a:r>
              <a:rPr dirty="0" sz="1250" spc="-4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M</a:t>
            </a:r>
            <a:r>
              <a:rPr dirty="0" sz="1250" spc="-4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U</a:t>
            </a:r>
            <a:r>
              <a:rPr dirty="0" sz="1250" spc="-6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N</a:t>
            </a:r>
            <a:r>
              <a:rPr dirty="0" sz="1250" spc="-7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5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C</a:t>
            </a:r>
            <a:r>
              <a:rPr dirty="0" sz="1250" spc="-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A</a:t>
            </a:r>
            <a:r>
              <a:rPr dirty="0" sz="1250" spc="-7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T</a:t>
            </a:r>
            <a:r>
              <a:rPr dirty="0" sz="1250" spc="-1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5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2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N</a:t>
            </a:r>
            <a:r>
              <a:rPr dirty="0" sz="1250" spc="4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P</a:t>
            </a:r>
            <a:r>
              <a:rPr dirty="0" sz="1250" spc="-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R</a:t>
            </a:r>
            <a:r>
              <a:rPr dirty="0" sz="1250" spc="-10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250" spc="-1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T</a:t>
            </a:r>
            <a:r>
              <a:rPr dirty="0" sz="125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2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C</a:t>
            </a:r>
            <a:r>
              <a:rPr dirty="0" sz="1250" spc="-5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2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50" spc="-50" b="1">
                <a:solidFill>
                  <a:srgbClr val="F4A200"/>
                </a:solidFill>
                <a:latin typeface="Calibri"/>
                <a:cs typeface="Calibri"/>
              </a:rPr>
              <a:t>L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19455" y="1576478"/>
            <a:ext cx="4617085" cy="1366520"/>
          </a:xfrm>
          <a:prstGeom prst="rect"/>
        </p:spPr>
        <p:txBody>
          <a:bodyPr wrap="square" lIns="0" tIns="205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5000"/>
              <a:t>Reliability</a:t>
            </a:r>
            <a:r>
              <a:rPr dirty="0" sz="5000" spc="-260"/>
              <a:t> </a:t>
            </a:r>
            <a:r>
              <a:rPr dirty="0" sz="5000" spc="-25"/>
              <a:t>API</a:t>
            </a:r>
            <a:endParaRPr sz="5000"/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000" b="0" i="1">
                <a:solidFill>
                  <a:srgbClr val="E8F0F5"/>
                </a:solidFill>
                <a:latin typeface="Calibri"/>
                <a:cs typeface="Calibri"/>
              </a:rPr>
              <a:t>Rate</a:t>
            </a:r>
            <a:r>
              <a:rPr dirty="0" sz="2000" spc="-35" b="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2000" b="0" i="1">
                <a:solidFill>
                  <a:srgbClr val="E8F0F5"/>
                </a:solidFill>
                <a:latin typeface="Calibri"/>
                <a:cs typeface="Calibri"/>
              </a:rPr>
              <a:t>Limiting</a:t>
            </a:r>
            <a:r>
              <a:rPr dirty="0" sz="2000" spc="-30" b="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2000" b="0" i="1">
                <a:solidFill>
                  <a:srgbClr val="E8F0F5"/>
                </a:solidFill>
                <a:latin typeface="Calibri"/>
                <a:cs typeface="Calibri"/>
              </a:rPr>
              <a:t>&amp;</a:t>
            </a:r>
            <a:r>
              <a:rPr dirty="0" sz="2000" spc="-60" b="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2000" b="0" i="1">
                <a:solidFill>
                  <a:srgbClr val="E8F0F5"/>
                </a:solidFill>
                <a:latin typeface="Calibri"/>
                <a:cs typeface="Calibri"/>
              </a:rPr>
              <a:t>Load</a:t>
            </a:r>
            <a:r>
              <a:rPr dirty="0" sz="2000" spc="-25" b="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2000" b="0" i="1">
                <a:solidFill>
                  <a:srgbClr val="E8F0F5"/>
                </a:solidFill>
                <a:latin typeface="Calibri"/>
                <a:cs typeface="Calibri"/>
              </a:rPr>
              <a:t>Balancing</a:t>
            </a:r>
            <a:r>
              <a:rPr dirty="0" sz="2000" spc="-95" b="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2000" spc="-25" b="0" i="1">
                <a:solidFill>
                  <a:srgbClr val="E8F0F5"/>
                </a:solidFill>
                <a:latin typeface="Calibri"/>
                <a:cs typeface="Calibri"/>
              </a:rPr>
              <a:t>Testing</a:t>
            </a:r>
            <a:r>
              <a:rPr dirty="0" sz="2000" spc="-90" b="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2000" spc="-10" b="0" i="1">
                <a:solidFill>
                  <a:srgbClr val="E8F0F5"/>
                </a:solidFill>
                <a:latin typeface="Calibri"/>
                <a:cs typeface="Calibri"/>
              </a:rPr>
              <a:t>(P10)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8187" y="3252851"/>
            <a:ext cx="3839210" cy="0"/>
          </a:xfrm>
          <a:custGeom>
            <a:avLst/>
            <a:gdLst/>
            <a:ahLst/>
            <a:cxnLst/>
            <a:rect l="l" t="t" r="r" b="b"/>
            <a:pathLst>
              <a:path w="3839210" h="0">
                <a:moveTo>
                  <a:pt x="0" y="0"/>
                </a:moveTo>
                <a:lnTo>
                  <a:pt x="3838638" y="0"/>
                </a:lnTo>
              </a:path>
            </a:pathLst>
          </a:custGeom>
          <a:ln w="25400">
            <a:solidFill>
              <a:srgbClr val="1C71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9455" y="3559492"/>
            <a:ext cx="429259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0" b="1">
                <a:solidFill>
                  <a:srgbClr val="1C7192"/>
                </a:solidFill>
                <a:latin typeface="Calibri"/>
                <a:cs typeface="Calibri"/>
              </a:rPr>
              <a:t>Nama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69945" y="3559492"/>
            <a:ext cx="985519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Nacwa</a:t>
            </a:r>
            <a:r>
              <a:rPr dirty="0" sz="12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Julianti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455" y="3925506"/>
            <a:ext cx="32004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5" b="1">
                <a:solidFill>
                  <a:srgbClr val="1C7192"/>
                </a:solidFill>
                <a:latin typeface="Calibri"/>
                <a:cs typeface="Calibri"/>
              </a:rPr>
              <a:t>NIM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9945" y="3925506"/>
            <a:ext cx="944244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25120500019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455" y="4292028"/>
            <a:ext cx="1216660" cy="9525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 b="1">
                <a:solidFill>
                  <a:srgbClr val="1C7192"/>
                </a:solidFill>
                <a:latin typeface="Calibri"/>
                <a:cs typeface="Calibri"/>
              </a:rPr>
              <a:t>Kelas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250" b="1">
                <a:solidFill>
                  <a:srgbClr val="1C7192"/>
                </a:solidFill>
                <a:latin typeface="Calibri"/>
                <a:cs typeface="Calibri"/>
              </a:rPr>
              <a:t>Mata</a:t>
            </a:r>
            <a:r>
              <a:rPr dirty="0" sz="1250" spc="8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C7192"/>
                </a:solidFill>
                <a:latin typeface="Calibri"/>
                <a:cs typeface="Calibri"/>
              </a:rPr>
              <a:t>Kuliah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250" b="1">
                <a:solidFill>
                  <a:srgbClr val="1C7192"/>
                </a:solidFill>
                <a:latin typeface="Calibri"/>
                <a:cs typeface="Calibri"/>
              </a:rPr>
              <a:t>Dosen</a:t>
            </a:r>
            <a:r>
              <a:rPr dirty="0" sz="1250" spc="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C7192"/>
                </a:solidFill>
                <a:latin typeface="Calibri"/>
                <a:cs typeface="Calibri"/>
              </a:rPr>
              <a:t>Pengampu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9945" y="4292028"/>
            <a:ext cx="1864360" cy="9525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dirty="0" sz="12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2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2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Calibri"/>
                <a:cs typeface="Calibri"/>
              </a:rPr>
              <a:t>ComP2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dirty="0" sz="125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Protocol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Haikal</a:t>
            </a:r>
            <a:r>
              <a:rPr dirty="0" sz="12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Shiddiq,</a:t>
            </a:r>
            <a:r>
              <a:rPr dirty="0" sz="12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S.Kom.,</a:t>
            </a:r>
            <a:r>
              <a:rPr dirty="0" sz="12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Calibri"/>
                <a:cs typeface="Calibri"/>
              </a:rPr>
              <a:t>M.T.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3425" y="5534025"/>
            <a:ext cx="10696575" cy="962025"/>
          </a:xfrm>
          <a:custGeom>
            <a:avLst/>
            <a:gdLst/>
            <a:ahLst/>
            <a:cxnLst/>
            <a:rect l="l" t="t" r="r" b="b"/>
            <a:pathLst>
              <a:path w="10696575" h="962025">
                <a:moveTo>
                  <a:pt x="10623296" y="0"/>
                </a:moveTo>
                <a:lnTo>
                  <a:pt x="73304" y="0"/>
                </a:lnTo>
                <a:lnTo>
                  <a:pt x="44769" y="5753"/>
                </a:lnTo>
                <a:lnTo>
                  <a:pt x="21469" y="21450"/>
                </a:lnTo>
                <a:lnTo>
                  <a:pt x="5760" y="44748"/>
                </a:lnTo>
                <a:lnTo>
                  <a:pt x="0" y="73304"/>
                </a:lnTo>
                <a:lnTo>
                  <a:pt x="0" y="888720"/>
                </a:lnTo>
                <a:lnTo>
                  <a:pt x="5760" y="917255"/>
                </a:lnTo>
                <a:lnTo>
                  <a:pt x="21469" y="940555"/>
                </a:lnTo>
                <a:lnTo>
                  <a:pt x="44769" y="956264"/>
                </a:lnTo>
                <a:lnTo>
                  <a:pt x="73304" y="962025"/>
                </a:lnTo>
                <a:lnTo>
                  <a:pt x="10623296" y="962025"/>
                </a:lnTo>
                <a:lnTo>
                  <a:pt x="10651837" y="956264"/>
                </a:lnTo>
                <a:lnTo>
                  <a:pt x="10675127" y="940555"/>
                </a:lnTo>
                <a:lnTo>
                  <a:pt x="10690822" y="917255"/>
                </a:lnTo>
                <a:lnTo>
                  <a:pt x="10696575" y="888720"/>
                </a:lnTo>
                <a:lnTo>
                  <a:pt x="10696575" y="73304"/>
                </a:lnTo>
                <a:lnTo>
                  <a:pt x="10690822" y="44748"/>
                </a:lnTo>
                <a:lnTo>
                  <a:pt x="10675127" y="21450"/>
                </a:lnTo>
                <a:lnTo>
                  <a:pt x="10651837" y="5753"/>
                </a:lnTo>
                <a:lnTo>
                  <a:pt x="10623296" y="0"/>
                </a:lnTo>
                <a:close/>
              </a:path>
            </a:pathLst>
          </a:custGeom>
          <a:solidFill>
            <a:srgbClr val="1230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93775" y="5697854"/>
            <a:ext cx="4153535" cy="633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4A200"/>
                </a:solidFill>
                <a:latin typeface="Calibri"/>
                <a:cs typeface="Calibri"/>
              </a:rPr>
              <a:t>L</a:t>
            </a:r>
            <a:r>
              <a:rPr dirty="0" sz="950" spc="-10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F4A200"/>
                </a:solidFill>
                <a:latin typeface="Calibri"/>
                <a:cs typeface="Calibri"/>
              </a:rPr>
              <a:t>INK</a:t>
            </a:r>
            <a:r>
              <a:rPr dirty="0" sz="950" spc="24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4A200"/>
                </a:solidFill>
                <a:latin typeface="Calibri"/>
                <a:cs typeface="Calibri"/>
              </a:rPr>
              <a:t>G</a:t>
            </a:r>
            <a:r>
              <a:rPr dirty="0" sz="9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F4A200"/>
                </a:solidFill>
                <a:latin typeface="Calibri"/>
                <a:cs typeface="Calibri"/>
              </a:rPr>
              <a:t>ITHUB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100" spc="-10">
                <a:solidFill>
                  <a:srgbClr val="FFFFFF"/>
                </a:solidFill>
                <a:latin typeface="Courier New"/>
                <a:cs typeface="Courier New"/>
              </a:rPr>
              <a:t>github.com/nacwajulianti55-tech/uas-</a:t>
            </a:r>
            <a:r>
              <a:rPr dirty="0" sz="1100">
                <a:solidFill>
                  <a:srgbClr val="FFFFFF"/>
                </a:solidFill>
                <a:latin typeface="Courier New"/>
                <a:cs typeface="Courier New"/>
              </a:rPr>
              <a:t>commprotocol-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solidFill>
                  <a:srgbClr val="FFFFFF"/>
                </a:solidFill>
                <a:latin typeface="Courier New"/>
                <a:cs typeface="Courier New"/>
              </a:rPr>
              <a:t>nacwajulianti25120500019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58001" y="5672137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1C71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713219" y="5697854"/>
            <a:ext cx="148336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4A200"/>
                </a:solidFill>
                <a:latin typeface="Calibri"/>
                <a:cs typeface="Calibri"/>
              </a:rPr>
              <a:t>L</a:t>
            </a:r>
            <a:r>
              <a:rPr dirty="0" sz="9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F4A200"/>
                </a:solidFill>
                <a:latin typeface="Calibri"/>
                <a:cs typeface="Calibri"/>
              </a:rPr>
              <a:t>INK</a:t>
            </a:r>
            <a:r>
              <a:rPr dirty="0" sz="950" spc="26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F4A200"/>
                </a:solidFill>
                <a:latin typeface="Calibri"/>
                <a:cs typeface="Calibri"/>
              </a:rPr>
              <a:t>YO</a:t>
            </a:r>
            <a:r>
              <a:rPr dirty="0" sz="950" spc="-3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F4A200"/>
                </a:solidFill>
                <a:latin typeface="Calibri"/>
                <a:cs typeface="Calibri"/>
              </a:rPr>
              <a:t>UTUB</a:t>
            </a:r>
            <a:r>
              <a:rPr dirty="0" sz="9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4A200"/>
                </a:solidFill>
                <a:latin typeface="Calibri"/>
                <a:cs typeface="Calibri"/>
              </a:rPr>
              <a:t>E</a:t>
            </a:r>
            <a:r>
              <a:rPr dirty="0" sz="950" spc="24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4A200"/>
                </a:solidFill>
                <a:latin typeface="Calibri"/>
                <a:cs typeface="Calibri"/>
              </a:rPr>
              <a:t>(D</a:t>
            </a:r>
            <a:r>
              <a:rPr dirty="0" sz="95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4A200"/>
                </a:solidFill>
                <a:latin typeface="Calibri"/>
                <a:cs typeface="Calibri"/>
              </a:rPr>
              <a:t>E</a:t>
            </a:r>
            <a:r>
              <a:rPr dirty="0" sz="9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4A200"/>
                </a:solidFill>
                <a:latin typeface="Calibri"/>
                <a:cs typeface="Calibri"/>
              </a:rPr>
              <a:t>M</a:t>
            </a:r>
            <a:r>
              <a:rPr dirty="0" sz="9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950" spc="30" b="1">
                <a:solidFill>
                  <a:srgbClr val="F4A200"/>
                </a:solidFill>
                <a:latin typeface="Calibri"/>
                <a:cs typeface="Calibri"/>
              </a:rPr>
              <a:t>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29400" y="6087236"/>
            <a:ext cx="1584325" cy="1428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905" rIns="0" bIns="0" rtlCol="0" vert="horz">
            <a:spAutoFit/>
          </a:bodyPr>
          <a:lstStyle/>
          <a:p>
            <a:pPr marL="4445">
              <a:lnSpc>
                <a:spcPts val="1110"/>
              </a:lnSpc>
              <a:spcBef>
                <a:spcPts val="15"/>
              </a:spcBef>
            </a:pPr>
            <a:r>
              <a:rPr dirty="0" sz="950" spc="-10">
                <a:latin typeface="Times New Roman"/>
                <a:cs typeface="Times New Roman"/>
                <a:hlinkClick r:id="rId2"/>
              </a:rPr>
              <a:t>https://youtu.be/CtzQpca5ZOE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3315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1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P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1C7192"/>
                </a:solidFill>
                <a:latin typeface="Calibri"/>
                <a:cs typeface="Calibri"/>
              </a:rPr>
              <a:t>RO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B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40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12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409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&amp;</a:t>
            </a:r>
            <a:r>
              <a:rPr dirty="0" sz="1200" spc="38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U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4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C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10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6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Dua</a:t>
            </a:r>
            <a:r>
              <a:rPr dirty="0" spc="2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Masalah</a:t>
            </a:r>
            <a:r>
              <a:rPr dirty="0" spc="-7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Reliability</a:t>
            </a:r>
            <a:r>
              <a:rPr dirty="0" spc="-3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Klasik</a:t>
            </a:r>
            <a:r>
              <a:rPr dirty="0" spc="-6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pada</a:t>
            </a:r>
            <a:r>
              <a:rPr dirty="0" spc="-4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API</a:t>
            </a:r>
            <a:r>
              <a:rPr dirty="0" spc="-25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Modern</a:t>
            </a:r>
          </a:p>
        </p:txBody>
      </p:sp>
      <p:sp>
        <p:nvSpPr>
          <p:cNvPr id="4" name="object 4"/>
          <p:cNvSpPr/>
          <p:nvPr/>
        </p:nvSpPr>
        <p:spPr>
          <a:xfrm>
            <a:off x="552450" y="1600200"/>
            <a:ext cx="6257925" cy="4572000"/>
          </a:xfrm>
          <a:custGeom>
            <a:avLst/>
            <a:gdLst/>
            <a:ahLst/>
            <a:cxnLst/>
            <a:rect l="l" t="t" r="r" b="b"/>
            <a:pathLst>
              <a:path w="6257925" h="4572000">
                <a:moveTo>
                  <a:pt x="6184773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4498848"/>
                </a:lnTo>
                <a:lnTo>
                  <a:pt x="5748" y="4527321"/>
                </a:lnTo>
                <a:lnTo>
                  <a:pt x="21426" y="4550573"/>
                </a:lnTo>
                <a:lnTo>
                  <a:pt x="44678" y="4566251"/>
                </a:lnTo>
                <a:lnTo>
                  <a:pt x="73151" y="4572000"/>
                </a:lnTo>
                <a:lnTo>
                  <a:pt x="6184773" y="4572000"/>
                </a:lnTo>
                <a:lnTo>
                  <a:pt x="6213240" y="4566251"/>
                </a:lnTo>
                <a:lnTo>
                  <a:pt x="6236493" y="4550573"/>
                </a:lnTo>
                <a:lnTo>
                  <a:pt x="6252174" y="4527321"/>
                </a:lnTo>
                <a:lnTo>
                  <a:pt x="6257925" y="4498848"/>
                </a:lnTo>
                <a:lnTo>
                  <a:pt x="6257925" y="73151"/>
                </a:lnTo>
                <a:lnTo>
                  <a:pt x="6252174" y="44684"/>
                </a:lnTo>
                <a:lnTo>
                  <a:pt x="6236493" y="21431"/>
                </a:lnTo>
                <a:lnTo>
                  <a:pt x="6213240" y="5750"/>
                </a:lnTo>
                <a:lnTo>
                  <a:pt x="6184773" y="0"/>
                </a:lnTo>
                <a:close/>
              </a:path>
            </a:pathLst>
          </a:custGeom>
          <a:solidFill>
            <a:srgbClr val="E8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6614" y="1758249"/>
            <a:ext cx="5668010" cy="14801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79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P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70" b="1">
                <a:solidFill>
                  <a:srgbClr val="1C7192"/>
                </a:solidFill>
                <a:latin typeface="Calibri"/>
                <a:cs typeface="Calibri"/>
              </a:rPr>
              <a:t>ROB</a:t>
            </a:r>
            <a:r>
              <a:rPr dirty="0" sz="1200" spc="-114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10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0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3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50" b="1">
                <a:solidFill>
                  <a:srgbClr val="1C7192"/>
                </a:solidFill>
                <a:latin typeface="Calibri"/>
                <a:cs typeface="Calibri"/>
              </a:rPr>
              <a:t>ST</a:t>
            </a:r>
            <a:r>
              <a:rPr dirty="0" sz="1200" spc="-114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10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14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NT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7700"/>
              </a:lnSpc>
              <a:spcBef>
                <a:spcPts val="490"/>
              </a:spcBef>
            </a:pP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API</a:t>
            </a:r>
            <a:r>
              <a:rPr dirty="0" sz="12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modern</a:t>
            </a:r>
            <a:r>
              <a:rPr dirty="0" sz="1250" spc="-7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yang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diakses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banyak</a:t>
            </a:r>
            <a:r>
              <a:rPr dirty="0" sz="1250" spc="-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client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secara</a:t>
            </a:r>
            <a:r>
              <a:rPr dirty="0" sz="12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bersamaan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rentan</a:t>
            </a:r>
            <a:r>
              <a:rPr dirty="0" sz="12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terhadap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dua</a:t>
            </a:r>
            <a:r>
              <a:rPr dirty="0" sz="12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masalah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reliability</a:t>
            </a:r>
            <a:r>
              <a:rPr dirty="0" sz="12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klasik: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satu</a:t>
            </a:r>
            <a:r>
              <a:rPr dirty="0" sz="12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client</a:t>
            </a:r>
            <a:r>
              <a:rPr dirty="0" sz="12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dapat</a:t>
            </a:r>
            <a:r>
              <a:rPr dirty="0" sz="12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mengirim</a:t>
            </a:r>
            <a:r>
              <a:rPr dirty="0" sz="12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250" spc="-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berlebihan</a:t>
            </a:r>
            <a:r>
              <a:rPr dirty="0" sz="12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hingga</a:t>
            </a:r>
            <a:r>
              <a:rPr dirty="0" sz="1250" spc="-7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membebani server,</a:t>
            </a:r>
            <a:r>
              <a:rPr dirty="0" sz="12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dan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satu</a:t>
            </a:r>
            <a:r>
              <a:rPr dirty="0" sz="12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server</a:t>
            </a:r>
            <a:r>
              <a:rPr dirty="0" sz="12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tunggal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dapat</a:t>
            </a:r>
            <a:r>
              <a:rPr dirty="0" sz="12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menjadi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titik</a:t>
            </a:r>
            <a:r>
              <a:rPr dirty="0" sz="12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kegagalan</a:t>
            </a:r>
            <a:r>
              <a:rPr dirty="0" sz="12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tunggal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jika</a:t>
            </a:r>
            <a:r>
              <a:rPr dirty="0" sz="1250" spc="-7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seluruh</a:t>
            </a:r>
            <a:r>
              <a:rPr dirty="0" sz="12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traffic dibebankan</a:t>
            </a:r>
            <a:r>
              <a:rPr dirty="0" sz="1250" spc="-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padanya.</a:t>
            </a:r>
            <a:r>
              <a:rPr dirty="0" sz="12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Project ini</a:t>
            </a:r>
            <a:r>
              <a:rPr dirty="0" sz="12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menguji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 bagaimana</a:t>
            </a:r>
            <a:r>
              <a:rPr dirty="0" sz="12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kedua</a:t>
            </a:r>
            <a:r>
              <a:rPr dirty="0" sz="12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mekanisme</a:t>
            </a:r>
            <a:r>
              <a:rPr dirty="0" sz="12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0A2445"/>
                </a:solidFill>
                <a:latin typeface="Calibri"/>
                <a:cs typeface="Calibri"/>
              </a:rPr>
              <a:t>itu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diimplementasikan</a:t>
            </a:r>
            <a:r>
              <a:rPr dirty="0" sz="12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dan</a:t>
            </a:r>
            <a:r>
              <a:rPr dirty="0" sz="1250" spc="-7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dibuktikan</a:t>
            </a:r>
            <a:r>
              <a:rPr dirty="0" sz="12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A2445"/>
                </a:solidFill>
                <a:latin typeface="Calibri"/>
                <a:cs typeface="Calibri"/>
              </a:rPr>
              <a:t>secara</a:t>
            </a:r>
            <a:r>
              <a:rPr dirty="0" sz="12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2445"/>
                </a:solidFill>
                <a:latin typeface="Calibri"/>
                <a:cs typeface="Calibri"/>
              </a:rPr>
              <a:t>teknis.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6775" y="3705225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431419" y="0"/>
                </a:moveTo>
                <a:lnTo>
                  <a:pt x="73431" y="0"/>
                </a:lnTo>
                <a:lnTo>
                  <a:pt x="44850" y="5772"/>
                </a:lnTo>
                <a:lnTo>
                  <a:pt x="21509" y="21510"/>
                </a:lnTo>
                <a:lnTo>
                  <a:pt x="5771" y="44844"/>
                </a:lnTo>
                <a:lnTo>
                  <a:pt x="0" y="73406"/>
                </a:lnTo>
                <a:lnTo>
                  <a:pt x="0" y="431419"/>
                </a:lnTo>
                <a:lnTo>
                  <a:pt x="5771" y="459980"/>
                </a:lnTo>
                <a:lnTo>
                  <a:pt x="21509" y="483314"/>
                </a:lnTo>
                <a:lnTo>
                  <a:pt x="44850" y="499052"/>
                </a:lnTo>
                <a:lnTo>
                  <a:pt x="73431" y="504825"/>
                </a:lnTo>
                <a:lnTo>
                  <a:pt x="431419" y="504825"/>
                </a:lnTo>
                <a:lnTo>
                  <a:pt x="459980" y="499052"/>
                </a:lnTo>
                <a:lnTo>
                  <a:pt x="483314" y="483314"/>
                </a:lnTo>
                <a:lnTo>
                  <a:pt x="499052" y="459980"/>
                </a:lnTo>
                <a:lnTo>
                  <a:pt x="504825" y="431419"/>
                </a:lnTo>
                <a:lnTo>
                  <a:pt x="504825" y="73406"/>
                </a:lnTo>
                <a:lnTo>
                  <a:pt x="499052" y="44844"/>
                </a:lnTo>
                <a:lnTo>
                  <a:pt x="483314" y="21510"/>
                </a:lnTo>
                <a:lnTo>
                  <a:pt x="459980" y="5772"/>
                </a:lnTo>
                <a:lnTo>
                  <a:pt x="431419" y="0"/>
                </a:lnTo>
                <a:close/>
              </a:path>
            </a:pathLst>
          </a:custGeom>
          <a:solidFill>
            <a:srgbClr val="0A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7425" y="3816350"/>
            <a:ext cx="27368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30" b="1">
                <a:solidFill>
                  <a:srgbClr val="FFFFFF"/>
                </a:solidFill>
                <a:latin typeface="Cambria"/>
                <a:cs typeface="Cambria"/>
              </a:rPr>
              <a:t>01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3050" y="3701986"/>
            <a:ext cx="2619375" cy="699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350" spc="-4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A2445"/>
                </a:solidFill>
                <a:latin typeface="Calibri"/>
                <a:cs typeface="Calibri"/>
              </a:rPr>
              <a:t>Berlebihan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Satu</a:t>
            </a:r>
            <a:r>
              <a:rPr dirty="0" sz="1050" spc="-4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client</a:t>
            </a:r>
            <a:r>
              <a:rPr dirty="0" sz="1050" spc="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mengirim</a:t>
            </a:r>
            <a:r>
              <a:rPr dirty="0" sz="1050" spc="4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B79"/>
                </a:solidFill>
                <a:latin typeface="Calibri"/>
                <a:cs typeface="Calibri"/>
              </a:rPr>
              <a:t>request</a:t>
            </a:r>
            <a:r>
              <a:rPr dirty="0" sz="1050" spc="-6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melebihi</a:t>
            </a:r>
            <a:r>
              <a:rPr dirty="0" sz="1050" spc="-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B79"/>
                </a:solidFill>
                <a:latin typeface="Calibri"/>
                <a:cs typeface="Calibri"/>
              </a:rPr>
              <a:t>kapasitas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→</a:t>
            </a:r>
            <a:r>
              <a:rPr dirty="0" sz="1050" spc="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server</a:t>
            </a:r>
            <a:r>
              <a:rPr dirty="0" sz="1050" spc="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B79"/>
                </a:solidFill>
                <a:latin typeface="Calibri"/>
                <a:cs typeface="Calibri"/>
              </a:rPr>
              <a:t>kelebihan</a:t>
            </a:r>
            <a:r>
              <a:rPr dirty="0" sz="105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B79"/>
                </a:solidFill>
                <a:latin typeface="Calibri"/>
                <a:cs typeface="Calibri"/>
              </a:rPr>
              <a:t>beban.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8650" y="3781425"/>
            <a:ext cx="2143125" cy="352425"/>
          </a:xfrm>
          <a:custGeom>
            <a:avLst/>
            <a:gdLst/>
            <a:ahLst/>
            <a:cxnLst/>
            <a:rect l="l" t="t" r="r" b="b"/>
            <a:pathLst>
              <a:path w="2143125" h="352425">
                <a:moveTo>
                  <a:pt x="1966976" y="0"/>
                </a:moveTo>
                <a:lnTo>
                  <a:pt x="176275" y="0"/>
                </a:lnTo>
                <a:lnTo>
                  <a:pt x="129395" y="6292"/>
                </a:lnTo>
                <a:lnTo>
                  <a:pt x="87281" y="24050"/>
                </a:lnTo>
                <a:lnTo>
                  <a:pt x="51609" y="51593"/>
                </a:lnTo>
                <a:lnTo>
                  <a:pt x="24054" y="87244"/>
                </a:lnTo>
                <a:lnTo>
                  <a:pt x="6292" y="129322"/>
                </a:lnTo>
                <a:lnTo>
                  <a:pt x="0" y="176149"/>
                </a:lnTo>
                <a:lnTo>
                  <a:pt x="6292" y="223029"/>
                </a:lnTo>
                <a:lnTo>
                  <a:pt x="24054" y="265143"/>
                </a:lnTo>
                <a:lnTo>
                  <a:pt x="51609" y="300815"/>
                </a:lnTo>
                <a:lnTo>
                  <a:pt x="87281" y="328370"/>
                </a:lnTo>
                <a:lnTo>
                  <a:pt x="129395" y="346132"/>
                </a:lnTo>
                <a:lnTo>
                  <a:pt x="176275" y="352425"/>
                </a:lnTo>
                <a:lnTo>
                  <a:pt x="1966976" y="352425"/>
                </a:lnTo>
                <a:lnTo>
                  <a:pt x="2013802" y="346132"/>
                </a:lnTo>
                <a:lnTo>
                  <a:pt x="2055880" y="328370"/>
                </a:lnTo>
                <a:lnTo>
                  <a:pt x="2091531" y="300815"/>
                </a:lnTo>
                <a:lnTo>
                  <a:pt x="2119074" y="265143"/>
                </a:lnTo>
                <a:lnTo>
                  <a:pt x="2136832" y="223029"/>
                </a:lnTo>
                <a:lnTo>
                  <a:pt x="2143125" y="176149"/>
                </a:lnTo>
                <a:lnTo>
                  <a:pt x="2136832" y="129322"/>
                </a:lnTo>
                <a:lnTo>
                  <a:pt x="2119074" y="87244"/>
                </a:lnTo>
                <a:lnTo>
                  <a:pt x="2091531" y="51593"/>
                </a:lnTo>
                <a:lnTo>
                  <a:pt x="2055880" y="24050"/>
                </a:lnTo>
                <a:lnTo>
                  <a:pt x="2013802" y="6292"/>
                </a:lnTo>
                <a:lnTo>
                  <a:pt x="1966976" y="0"/>
                </a:lnTo>
                <a:close/>
              </a:path>
            </a:pathLst>
          </a:custGeom>
          <a:solidFill>
            <a:srgbClr val="1C71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00371" y="3866515"/>
            <a:ext cx="102616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Perlu</a:t>
            </a:r>
            <a:r>
              <a:rPr dirty="0" sz="95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dirty="0" sz="950" spc="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Limiting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6775" y="4848225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431419" y="0"/>
                </a:moveTo>
                <a:lnTo>
                  <a:pt x="73431" y="0"/>
                </a:lnTo>
                <a:lnTo>
                  <a:pt x="44850" y="5772"/>
                </a:lnTo>
                <a:lnTo>
                  <a:pt x="21509" y="21510"/>
                </a:lnTo>
                <a:lnTo>
                  <a:pt x="5771" y="44844"/>
                </a:lnTo>
                <a:lnTo>
                  <a:pt x="0" y="73406"/>
                </a:lnTo>
                <a:lnTo>
                  <a:pt x="0" y="431419"/>
                </a:lnTo>
                <a:lnTo>
                  <a:pt x="5771" y="459980"/>
                </a:lnTo>
                <a:lnTo>
                  <a:pt x="21509" y="483314"/>
                </a:lnTo>
                <a:lnTo>
                  <a:pt x="44850" y="499052"/>
                </a:lnTo>
                <a:lnTo>
                  <a:pt x="73431" y="504825"/>
                </a:lnTo>
                <a:lnTo>
                  <a:pt x="431419" y="504825"/>
                </a:lnTo>
                <a:lnTo>
                  <a:pt x="459980" y="499052"/>
                </a:lnTo>
                <a:lnTo>
                  <a:pt x="483314" y="483314"/>
                </a:lnTo>
                <a:lnTo>
                  <a:pt x="499052" y="459980"/>
                </a:lnTo>
                <a:lnTo>
                  <a:pt x="504825" y="431419"/>
                </a:lnTo>
                <a:lnTo>
                  <a:pt x="504825" y="73406"/>
                </a:lnTo>
                <a:lnTo>
                  <a:pt x="499052" y="44844"/>
                </a:lnTo>
                <a:lnTo>
                  <a:pt x="483314" y="21510"/>
                </a:lnTo>
                <a:lnTo>
                  <a:pt x="459980" y="5772"/>
                </a:lnTo>
                <a:lnTo>
                  <a:pt x="431419" y="0"/>
                </a:lnTo>
                <a:close/>
              </a:path>
            </a:pathLst>
          </a:custGeom>
          <a:solidFill>
            <a:srgbClr val="0A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87425" y="4960873"/>
            <a:ext cx="27368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30" b="1">
                <a:solidFill>
                  <a:srgbClr val="FFFFFF"/>
                </a:solidFill>
                <a:latin typeface="Cambria"/>
                <a:cs typeface="Cambria"/>
              </a:rPr>
              <a:t>02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3050" y="4846637"/>
            <a:ext cx="2713990" cy="69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A2445"/>
                </a:solidFill>
                <a:latin typeface="Calibri"/>
                <a:cs typeface="Calibri"/>
              </a:rPr>
              <a:t>Titik</a:t>
            </a:r>
            <a:r>
              <a:rPr dirty="0" sz="1350" spc="3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A2445"/>
                </a:solidFill>
                <a:latin typeface="Calibri"/>
                <a:cs typeface="Calibri"/>
              </a:rPr>
              <a:t>Kegagalan</a:t>
            </a:r>
            <a:r>
              <a:rPr dirty="0" sz="1350" spc="-4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A2445"/>
                </a:solidFill>
                <a:latin typeface="Calibri"/>
                <a:cs typeface="Calibri"/>
              </a:rPr>
              <a:t>Tunggal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07300"/>
              </a:lnSpc>
              <a:spcBef>
                <a:spcPts val="975"/>
              </a:spcBef>
            </a:pP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Seluruh traffic</a:t>
            </a:r>
            <a:r>
              <a:rPr dirty="0" sz="1050" spc="-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dibebankan ke</a:t>
            </a:r>
            <a:r>
              <a:rPr dirty="0" sz="1050" spc="-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satu</a:t>
            </a:r>
            <a:r>
              <a:rPr dirty="0" sz="1050" spc="-6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server</a:t>
            </a:r>
            <a:r>
              <a:rPr dirty="0" sz="105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B79"/>
                </a:solidFill>
                <a:latin typeface="Calibri"/>
                <a:cs typeface="Calibri"/>
              </a:rPr>
              <a:t>→</a:t>
            </a:r>
            <a:r>
              <a:rPr dirty="0" sz="1050" spc="-2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B79"/>
                </a:solidFill>
                <a:latin typeface="Calibri"/>
                <a:cs typeface="Calibri"/>
              </a:rPr>
              <a:t>risiko downtime</a:t>
            </a:r>
            <a:r>
              <a:rPr dirty="0" sz="1050" spc="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B79"/>
                </a:solidFill>
                <a:latin typeface="Calibri"/>
                <a:cs typeface="Calibri"/>
              </a:rPr>
              <a:t>tinggi.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38650" y="4924425"/>
            <a:ext cx="2143125" cy="352425"/>
          </a:xfrm>
          <a:custGeom>
            <a:avLst/>
            <a:gdLst/>
            <a:ahLst/>
            <a:cxnLst/>
            <a:rect l="l" t="t" r="r" b="b"/>
            <a:pathLst>
              <a:path w="2143125" h="352425">
                <a:moveTo>
                  <a:pt x="1966976" y="0"/>
                </a:moveTo>
                <a:lnTo>
                  <a:pt x="176275" y="0"/>
                </a:lnTo>
                <a:lnTo>
                  <a:pt x="129395" y="6292"/>
                </a:lnTo>
                <a:lnTo>
                  <a:pt x="87281" y="24050"/>
                </a:lnTo>
                <a:lnTo>
                  <a:pt x="51609" y="51593"/>
                </a:lnTo>
                <a:lnTo>
                  <a:pt x="24054" y="87244"/>
                </a:lnTo>
                <a:lnTo>
                  <a:pt x="6292" y="129322"/>
                </a:lnTo>
                <a:lnTo>
                  <a:pt x="0" y="176149"/>
                </a:lnTo>
                <a:lnTo>
                  <a:pt x="6292" y="223029"/>
                </a:lnTo>
                <a:lnTo>
                  <a:pt x="24054" y="265143"/>
                </a:lnTo>
                <a:lnTo>
                  <a:pt x="51609" y="300815"/>
                </a:lnTo>
                <a:lnTo>
                  <a:pt x="87281" y="328370"/>
                </a:lnTo>
                <a:lnTo>
                  <a:pt x="129395" y="346132"/>
                </a:lnTo>
                <a:lnTo>
                  <a:pt x="176275" y="352425"/>
                </a:lnTo>
                <a:lnTo>
                  <a:pt x="1966976" y="352425"/>
                </a:lnTo>
                <a:lnTo>
                  <a:pt x="2013802" y="346132"/>
                </a:lnTo>
                <a:lnTo>
                  <a:pt x="2055880" y="328370"/>
                </a:lnTo>
                <a:lnTo>
                  <a:pt x="2091531" y="300815"/>
                </a:lnTo>
                <a:lnTo>
                  <a:pt x="2119074" y="265143"/>
                </a:lnTo>
                <a:lnTo>
                  <a:pt x="2136832" y="223029"/>
                </a:lnTo>
                <a:lnTo>
                  <a:pt x="2143125" y="176149"/>
                </a:lnTo>
                <a:lnTo>
                  <a:pt x="2136832" y="129322"/>
                </a:lnTo>
                <a:lnTo>
                  <a:pt x="2119074" y="87244"/>
                </a:lnTo>
                <a:lnTo>
                  <a:pt x="2091531" y="51593"/>
                </a:lnTo>
                <a:lnTo>
                  <a:pt x="2055880" y="24050"/>
                </a:lnTo>
                <a:lnTo>
                  <a:pt x="2013802" y="6292"/>
                </a:lnTo>
                <a:lnTo>
                  <a:pt x="1966976" y="0"/>
                </a:lnTo>
                <a:close/>
              </a:path>
            </a:pathLst>
          </a:custGeom>
          <a:solidFill>
            <a:srgbClr val="1C71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953634" y="5011039"/>
            <a:ext cx="11214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Perlu</a:t>
            </a:r>
            <a:r>
              <a:rPr dirty="0" sz="95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dirty="0" sz="950" spc="1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Balancing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614" y="6000115"/>
            <a:ext cx="563753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00"/>
              </a:spcBef>
            </a:pP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Use</a:t>
            </a:r>
            <a:r>
              <a:rPr dirty="0" sz="1050" spc="-6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case dipilih</a:t>
            </a:r>
            <a:r>
              <a:rPr dirty="0" sz="1050" spc="-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karena</a:t>
            </a:r>
            <a:r>
              <a:rPr dirty="0" sz="1050" spc="4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melanjutkan</a:t>
            </a:r>
            <a:r>
              <a:rPr dirty="0" sz="1050" spc="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praktikum</a:t>
            </a:r>
            <a:r>
              <a:rPr dirty="0" sz="1050" spc="-2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P10</a:t>
            </a:r>
            <a:r>
              <a:rPr dirty="0" sz="1050" spc="-2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dan</a:t>
            </a:r>
            <a:r>
              <a:rPr dirty="0" sz="1050" spc="-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menyediakan</a:t>
            </a:r>
            <a:r>
              <a:rPr dirty="0" sz="1050" spc="-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endpoint</a:t>
            </a:r>
            <a:r>
              <a:rPr dirty="0" sz="1050" spc="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yang</a:t>
            </a:r>
            <a:r>
              <a:rPr dirty="0" sz="1050" spc="4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secara</a:t>
            </a:r>
            <a:r>
              <a:rPr dirty="0" sz="1050" spc="-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eksplisit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didesain</a:t>
            </a:r>
            <a:r>
              <a:rPr dirty="0" sz="1050" spc="-5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untuk</a:t>
            </a:r>
            <a:r>
              <a:rPr dirty="0" sz="1050" spc="-5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mendemokan</a:t>
            </a:r>
            <a:r>
              <a:rPr dirty="0" sz="1050" spc="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konsep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rate</a:t>
            </a:r>
            <a:r>
              <a:rPr dirty="0" sz="1050" spc="-6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limiting</a:t>
            </a:r>
            <a:r>
              <a:rPr dirty="0" sz="1050" spc="-4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&amp; load</a:t>
            </a:r>
            <a:r>
              <a:rPr dirty="0" sz="1050" spc="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balancing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dengan</a:t>
            </a:r>
            <a:r>
              <a:rPr dirty="0" sz="1050" spc="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output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status</a:t>
            </a:r>
            <a:r>
              <a:rPr dirty="0" sz="1050" spc="1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code,</a:t>
            </a:r>
            <a:r>
              <a:rPr dirty="0" sz="1050" spc="-6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response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86600" y="1600200"/>
            <a:ext cx="4524375" cy="1924050"/>
          </a:xfrm>
          <a:custGeom>
            <a:avLst/>
            <a:gdLst/>
            <a:ahLst/>
            <a:cxnLst/>
            <a:rect l="l" t="t" r="r" b="b"/>
            <a:pathLst>
              <a:path w="4524375" h="1924050">
                <a:moveTo>
                  <a:pt x="4451096" y="0"/>
                </a:moveTo>
                <a:lnTo>
                  <a:pt x="73278" y="0"/>
                </a:lnTo>
                <a:lnTo>
                  <a:pt x="44737" y="5752"/>
                </a:lnTo>
                <a:lnTo>
                  <a:pt x="21447" y="21447"/>
                </a:lnTo>
                <a:lnTo>
                  <a:pt x="5752" y="44737"/>
                </a:lnTo>
                <a:lnTo>
                  <a:pt x="0" y="73278"/>
                </a:lnTo>
                <a:lnTo>
                  <a:pt x="0" y="1850771"/>
                </a:lnTo>
                <a:lnTo>
                  <a:pt x="5752" y="1879312"/>
                </a:lnTo>
                <a:lnTo>
                  <a:pt x="21447" y="1902602"/>
                </a:lnTo>
                <a:lnTo>
                  <a:pt x="44737" y="1918297"/>
                </a:lnTo>
                <a:lnTo>
                  <a:pt x="73278" y="1924050"/>
                </a:lnTo>
                <a:lnTo>
                  <a:pt x="4451096" y="1924050"/>
                </a:lnTo>
                <a:lnTo>
                  <a:pt x="4479637" y="1918297"/>
                </a:lnTo>
                <a:lnTo>
                  <a:pt x="4502927" y="1902602"/>
                </a:lnTo>
                <a:lnTo>
                  <a:pt x="4518622" y="1879312"/>
                </a:lnTo>
                <a:lnTo>
                  <a:pt x="4524375" y="1850771"/>
                </a:lnTo>
                <a:lnTo>
                  <a:pt x="4524375" y="73278"/>
                </a:lnTo>
                <a:lnTo>
                  <a:pt x="4518622" y="44737"/>
                </a:lnTo>
                <a:lnTo>
                  <a:pt x="4502927" y="21447"/>
                </a:lnTo>
                <a:lnTo>
                  <a:pt x="4479637" y="5752"/>
                </a:lnTo>
                <a:lnTo>
                  <a:pt x="4451096" y="0"/>
                </a:lnTo>
                <a:close/>
              </a:path>
            </a:pathLst>
          </a:custGeom>
          <a:solidFill>
            <a:srgbClr val="0A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353934" y="1768550"/>
            <a:ext cx="3561715" cy="158623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505"/>
              </a:spcBef>
            </a:pP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U</a:t>
            </a:r>
            <a:r>
              <a:rPr dirty="0" sz="110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S</a:t>
            </a:r>
            <a:r>
              <a:rPr dirty="0" sz="1100" spc="-10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E</a:t>
            </a:r>
            <a:r>
              <a:rPr dirty="0" sz="1100" spc="2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C</a:t>
            </a:r>
            <a:r>
              <a:rPr dirty="0" sz="110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A</a:t>
            </a:r>
            <a:r>
              <a:rPr dirty="0" sz="1100" spc="-10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S</a:t>
            </a:r>
            <a:r>
              <a:rPr dirty="0" sz="1100" spc="-10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E</a:t>
            </a:r>
            <a:r>
              <a:rPr dirty="0" sz="1100" spc="2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T</a:t>
            </a:r>
            <a:r>
              <a:rPr dirty="0" sz="1100" spc="-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spc="85" b="1">
                <a:solidFill>
                  <a:srgbClr val="F4A200"/>
                </a:solidFill>
                <a:latin typeface="Calibri"/>
                <a:cs typeface="Calibri"/>
              </a:rPr>
              <a:t>ERP</a:t>
            </a:r>
            <a:r>
              <a:rPr dirty="0" sz="110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10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spc="70" b="1">
                <a:solidFill>
                  <a:srgbClr val="F4A200"/>
                </a:solidFill>
                <a:latin typeface="Calibri"/>
                <a:cs typeface="Calibri"/>
              </a:rPr>
              <a:t>LI</a:t>
            </a:r>
            <a:r>
              <a:rPr dirty="0" sz="110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4A200"/>
                </a:solidFill>
                <a:latin typeface="Calibri"/>
                <a:cs typeface="Calibri"/>
              </a:rPr>
              <a:t>H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300" b="1">
                <a:solidFill>
                  <a:srgbClr val="FFFFFF"/>
                </a:solidFill>
                <a:latin typeface="Cambria"/>
                <a:cs typeface="Cambria"/>
              </a:rPr>
              <a:t>Demo App</a:t>
            </a:r>
            <a:r>
              <a:rPr dirty="0" sz="2300" spc="-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300" spc="-25" b="1">
                <a:solidFill>
                  <a:srgbClr val="FFFFFF"/>
                </a:solidFill>
                <a:latin typeface="Cambria"/>
                <a:cs typeface="Cambria"/>
              </a:rPr>
              <a:t>P10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300" spc="-10" b="1">
                <a:solidFill>
                  <a:srgbClr val="FFFFFF"/>
                </a:solidFill>
                <a:latin typeface="Cambria"/>
                <a:cs typeface="Cambria"/>
              </a:rPr>
              <a:t>Reliability</a:t>
            </a:r>
            <a:r>
              <a:rPr dirty="0" sz="2300" spc="-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300" spc="-25" b="1">
                <a:solidFill>
                  <a:srgbClr val="FFFFFF"/>
                </a:solidFill>
                <a:latin typeface="Cambria"/>
                <a:cs typeface="Cambria"/>
              </a:rPr>
              <a:t>API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Rate</a:t>
            </a:r>
            <a:r>
              <a:rPr dirty="0" sz="1050" spc="-6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limiting</a:t>
            </a:r>
            <a:r>
              <a:rPr dirty="0" sz="1050" spc="-4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·</a:t>
            </a:r>
            <a:r>
              <a:rPr dirty="0" sz="1050" spc="1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load</a:t>
            </a:r>
            <a:r>
              <a:rPr dirty="0" sz="1050" spc="4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E8F0F5"/>
                </a:solidFill>
                <a:latin typeface="Calibri"/>
                <a:cs typeface="Calibri"/>
              </a:rPr>
              <a:t>balancing</a:t>
            </a:r>
            <a:r>
              <a:rPr dirty="0" sz="1050" spc="-3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·</a:t>
            </a:r>
            <a:r>
              <a:rPr dirty="0" sz="1050" spc="1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4</a:t>
            </a:r>
            <a:r>
              <a:rPr dirty="0" sz="1050" spc="-3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REST</a:t>
            </a:r>
            <a:r>
              <a:rPr dirty="0" sz="1050" spc="-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endpoints</a:t>
            </a:r>
            <a:r>
              <a:rPr dirty="0" sz="1050" spc="2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+</a:t>
            </a:r>
            <a:r>
              <a:rPr dirty="0" sz="1050" spc="-2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1</a:t>
            </a:r>
            <a:r>
              <a:rPr dirty="0" sz="1050" spc="-2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F0F5"/>
                </a:solidFill>
                <a:latin typeface="Calibri"/>
                <a:cs typeface="Calibri"/>
              </a:rPr>
              <a:t>n8n</a:t>
            </a:r>
            <a:r>
              <a:rPr dirty="0" sz="1050" spc="-3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E8F0F5"/>
                </a:solidFill>
                <a:latin typeface="Calibri"/>
                <a:cs typeface="Calibri"/>
              </a:rPr>
              <a:t>webhook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i="1">
                <a:solidFill>
                  <a:srgbClr val="E8F0F5"/>
                </a:solidFill>
                <a:latin typeface="Calibri"/>
                <a:cs typeface="Calibri"/>
              </a:rPr>
              <a:t>orchestration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614" y="6408783"/>
            <a:ext cx="1945005" cy="18859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time,</a:t>
            </a:r>
            <a:r>
              <a:rPr dirty="0" sz="1050" spc="-6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dan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teaching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point</a:t>
            </a:r>
            <a:r>
              <a:rPr dirty="0" sz="1050" spc="-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yang</a:t>
            </a:r>
            <a:r>
              <a:rPr dirty="0" sz="1050" spc="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jelas.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0801" y="3823271"/>
            <a:ext cx="18288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14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U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75" b="1">
                <a:solidFill>
                  <a:srgbClr val="1C7192"/>
                </a:solidFill>
                <a:latin typeface="Calibri"/>
                <a:cs typeface="Calibri"/>
              </a:rPr>
              <a:t>JUA</a:t>
            </a:r>
            <a:r>
              <a:rPr dirty="0" sz="1200" spc="-9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3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114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6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NI</a:t>
            </a:r>
            <a:r>
              <a:rPr dirty="0" sz="1200" spc="3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P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75" b="1">
                <a:solidFill>
                  <a:srgbClr val="1C7192"/>
                </a:solidFill>
                <a:latin typeface="Calibri"/>
                <a:cs typeface="Calibri"/>
              </a:rPr>
              <a:t>ROJ</a:t>
            </a:r>
            <a:r>
              <a:rPr dirty="0" sz="1200" spc="-6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0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25" b="1">
                <a:solidFill>
                  <a:srgbClr val="1C7192"/>
                </a:solidFill>
                <a:latin typeface="Calibri"/>
                <a:cs typeface="Calibri"/>
              </a:rPr>
              <a:t>CT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0801" y="4134358"/>
            <a:ext cx="4074795" cy="426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Membuktikan</a:t>
            </a:r>
            <a:r>
              <a:rPr dirty="0" sz="1100" spc="1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mekanisme</a:t>
            </a:r>
            <a:r>
              <a:rPr dirty="0" sz="1100" spc="2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rate</a:t>
            </a:r>
            <a:r>
              <a:rPr dirty="0" sz="1100" spc="204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limiting</a:t>
            </a:r>
            <a:r>
              <a:rPr dirty="0" sz="1100" spc="1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(fixed</a:t>
            </a:r>
            <a:r>
              <a:rPr dirty="0" sz="1100" spc="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window</a:t>
            </a:r>
            <a:r>
              <a:rPr dirty="0" sz="1100" spc="8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counter)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melalui</a:t>
            </a:r>
            <a:r>
              <a:rPr dirty="0" sz="1100" spc="1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pengujian</a:t>
            </a:r>
            <a:r>
              <a:rPr dirty="0" sz="1100" spc="1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berulang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70801" y="4668456"/>
            <a:ext cx="4255135" cy="426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Membuktikan</a:t>
            </a:r>
            <a:r>
              <a:rPr dirty="0" sz="1100" spc="20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mekanisme</a:t>
            </a:r>
            <a:r>
              <a:rPr dirty="0" sz="1100" spc="2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load</a:t>
            </a:r>
            <a:r>
              <a:rPr dirty="0" sz="1100" spc="9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balancing</a:t>
            </a:r>
            <a:r>
              <a:rPr dirty="0" sz="1100" spc="18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melalui</a:t>
            </a:r>
            <a:r>
              <a:rPr dirty="0" sz="1100" spc="1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variasi</a:t>
            </a:r>
            <a:r>
              <a:rPr dirty="0" sz="1100" spc="1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response backend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70801" y="5192966"/>
            <a:ext cx="4230370" cy="426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 spc="10">
                <a:solidFill>
                  <a:srgbClr val="0A2445"/>
                </a:solidFill>
                <a:latin typeface="Calibri"/>
                <a:cs typeface="Calibri"/>
              </a:rPr>
              <a:t>Mendokumentasikan</a:t>
            </a:r>
            <a:r>
              <a:rPr dirty="0" sz="1100" spc="114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A2445"/>
                </a:solidFill>
                <a:latin typeface="Calibri"/>
                <a:cs typeface="Calibri"/>
              </a:rPr>
              <a:t>reliability</a:t>
            </a:r>
            <a:r>
              <a:rPr dirty="0" sz="1100" spc="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A2445"/>
                </a:solidFill>
                <a:latin typeface="Calibri"/>
                <a:cs typeface="Calibri"/>
              </a:rPr>
              <a:t>&amp;</a:t>
            </a:r>
            <a:r>
              <a:rPr dirty="0" sz="1100" spc="9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A2445"/>
                </a:solidFill>
                <a:latin typeface="Calibri"/>
                <a:cs typeface="Calibri"/>
              </a:rPr>
              <a:t>error</a:t>
            </a:r>
            <a:r>
              <a:rPr dirty="0" sz="1100" spc="9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A2445"/>
                </a:solidFill>
                <a:latin typeface="Calibri"/>
                <a:cs typeface="Calibri"/>
              </a:rPr>
              <a:t>handling</a:t>
            </a:r>
            <a:r>
              <a:rPr dirty="0" sz="1100" spc="10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A2445"/>
                </a:solidFill>
                <a:latin typeface="Calibri"/>
                <a:cs typeface="Calibri"/>
              </a:rPr>
              <a:t>melalui</a:t>
            </a:r>
            <a:r>
              <a:rPr dirty="0" sz="1100" spc="8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skenario success/failure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70801" y="5727382"/>
            <a:ext cx="4292600" cy="4260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Membuktikan</a:t>
            </a:r>
            <a:r>
              <a:rPr dirty="0" sz="1100" spc="2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observability</a:t>
            </a:r>
            <a:r>
              <a:rPr dirty="0" sz="1100" spc="1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melalui</a:t>
            </a:r>
            <a:r>
              <a:rPr dirty="0" sz="1100" spc="1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capture</a:t>
            </a:r>
            <a:r>
              <a:rPr dirty="0" sz="1100" spc="1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Wireshark</a:t>
            </a:r>
            <a:r>
              <a:rPr dirty="0" sz="1100" spc="1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&amp;</a:t>
            </a:r>
            <a:r>
              <a:rPr dirty="0" sz="1100" spc="18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response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time</a:t>
            </a:r>
            <a:r>
              <a:rPr dirty="0" sz="1100" spc="9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Postman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743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2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Y</a:t>
            </a:r>
            <a:r>
              <a:rPr dirty="0" sz="1200" spc="-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40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D</a:t>
            </a:r>
            <a:r>
              <a:rPr dirty="0" sz="1200" spc="-6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G</a:t>
            </a:r>
            <a:r>
              <a:rPr dirty="0" sz="1200" spc="-6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>
                <a:solidFill>
                  <a:srgbClr val="0A2445"/>
                </a:solidFill>
              </a:rPr>
              <a:t>Architecture</a:t>
            </a:r>
            <a:r>
              <a:rPr dirty="0" spc="-55">
                <a:solidFill>
                  <a:srgbClr val="0A2445"/>
                </a:solidFill>
              </a:rPr>
              <a:t> </a:t>
            </a:r>
            <a:r>
              <a:rPr dirty="0" spc="-20">
                <a:solidFill>
                  <a:srgbClr val="0A2445"/>
                </a:solidFill>
              </a:rPr>
              <a:t>Canvas</a:t>
            </a:r>
            <a:r>
              <a:rPr dirty="0" spc="-7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65">
                <a:solidFill>
                  <a:srgbClr val="0A2445"/>
                </a:solidFill>
              </a:rPr>
              <a:t> </a:t>
            </a:r>
            <a:r>
              <a:rPr dirty="0" spc="-30">
                <a:solidFill>
                  <a:srgbClr val="0A2445"/>
                </a:solidFill>
              </a:rPr>
              <a:t>Termasuk</a:t>
            </a:r>
            <a:r>
              <a:rPr dirty="0" spc="-9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Lapisan</a:t>
            </a:r>
            <a:r>
              <a:rPr dirty="0" spc="-114">
                <a:solidFill>
                  <a:srgbClr val="0A2445"/>
                </a:solidFill>
              </a:rPr>
              <a:t> </a:t>
            </a:r>
            <a:r>
              <a:rPr dirty="0" spc="-25">
                <a:solidFill>
                  <a:srgbClr val="0A2445"/>
                </a:solidFill>
              </a:rPr>
              <a:t>n8n</a:t>
            </a:r>
          </a:p>
        </p:txBody>
      </p:sp>
      <p:pic>
        <p:nvPicPr>
          <p:cNvPr id="4" name="object 4" descr="/home/claude/diagrams/architecture_canva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427" y="1678757"/>
            <a:ext cx="7428169" cy="418053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591550" y="1504950"/>
            <a:ext cx="3067050" cy="4619625"/>
          </a:xfrm>
          <a:custGeom>
            <a:avLst/>
            <a:gdLst/>
            <a:ahLst/>
            <a:cxnLst/>
            <a:rect l="l" t="t" r="r" b="b"/>
            <a:pathLst>
              <a:path w="3067050" h="4619625">
                <a:moveTo>
                  <a:pt x="2993771" y="0"/>
                </a:moveTo>
                <a:lnTo>
                  <a:pt x="73278" y="0"/>
                </a:lnTo>
                <a:lnTo>
                  <a:pt x="44737" y="5752"/>
                </a:lnTo>
                <a:lnTo>
                  <a:pt x="21447" y="21447"/>
                </a:lnTo>
                <a:lnTo>
                  <a:pt x="5752" y="44737"/>
                </a:lnTo>
                <a:lnTo>
                  <a:pt x="0" y="73278"/>
                </a:lnTo>
                <a:lnTo>
                  <a:pt x="0" y="4546384"/>
                </a:lnTo>
                <a:lnTo>
                  <a:pt x="5752" y="4574892"/>
                </a:lnTo>
                <a:lnTo>
                  <a:pt x="21447" y="4598173"/>
                </a:lnTo>
                <a:lnTo>
                  <a:pt x="44737" y="4613869"/>
                </a:lnTo>
                <a:lnTo>
                  <a:pt x="73278" y="4619625"/>
                </a:lnTo>
                <a:lnTo>
                  <a:pt x="2993771" y="4619625"/>
                </a:lnTo>
                <a:lnTo>
                  <a:pt x="3022312" y="4613869"/>
                </a:lnTo>
                <a:lnTo>
                  <a:pt x="3045602" y="4598173"/>
                </a:lnTo>
                <a:lnTo>
                  <a:pt x="3061297" y="4574892"/>
                </a:lnTo>
                <a:lnTo>
                  <a:pt x="3067050" y="4546384"/>
                </a:lnTo>
                <a:lnTo>
                  <a:pt x="3067050" y="73278"/>
                </a:lnTo>
                <a:lnTo>
                  <a:pt x="3061297" y="44737"/>
                </a:lnTo>
                <a:lnTo>
                  <a:pt x="3045602" y="21447"/>
                </a:lnTo>
                <a:lnTo>
                  <a:pt x="3022312" y="5752"/>
                </a:lnTo>
                <a:lnTo>
                  <a:pt x="2993771" y="0"/>
                </a:lnTo>
                <a:close/>
              </a:path>
            </a:pathLst>
          </a:custGeom>
          <a:solidFill>
            <a:srgbClr val="E8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909684" y="1724977"/>
            <a:ext cx="2473325" cy="35801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75" b="1">
                <a:solidFill>
                  <a:srgbClr val="1C7192"/>
                </a:solidFill>
                <a:latin typeface="Calibri"/>
                <a:cs typeface="Calibri"/>
              </a:rPr>
              <a:t>PENJ</a:t>
            </a:r>
            <a:r>
              <a:rPr dirty="0" sz="11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spc="85" b="1">
                <a:solidFill>
                  <a:srgbClr val="1C7192"/>
                </a:solidFill>
                <a:latin typeface="Calibri"/>
                <a:cs typeface="Calibri"/>
              </a:rPr>
              <a:t>ELASAN</a:t>
            </a:r>
            <a:endParaRPr sz="1100">
              <a:latin typeface="Calibri"/>
              <a:cs typeface="Calibri"/>
            </a:endParaRPr>
          </a:p>
          <a:p>
            <a:pPr marL="355600" marR="31115" indent="-342900">
              <a:lnSpc>
                <a:spcPct val="117200"/>
              </a:lnSpc>
              <a:spcBef>
                <a:spcPts val="1055"/>
              </a:spcBef>
              <a:buChar char="▪"/>
              <a:tabLst>
                <a:tab pos="355600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9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aspek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arsitektur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dirangkum</a:t>
            </a:r>
            <a:r>
              <a:rPr dirty="0" sz="1050" spc="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dalam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satu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canvas: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use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case, client,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protocol,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endpoint,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reliability,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observability,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backend,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evidence,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limitations</a:t>
            </a:r>
            <a:endParaRPr sz="1050">
              <a:latin typeface="Calibri"/>
              <a:cs typeface="Calibri"/>
            </a:endParaRPr>
          </a:p>
          <a:p>
            <a:pPr marL="355600" marR="240029" indent="-342900">
              <a:lnSpc>
                <a:spcPct val="117200"/>
              </a:lnSpc>
              <a:spcBef>
                <a:spcPts val="1150"/>
              </a:spcBef>
              <a:buChar char="▪"/>
              <a:tabLst>
                <a:tab pos="355600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Cell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Client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&amp;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Endpoints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diperbarui: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mencakup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n8n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Webhook</a:t>
            </a:r>
            <a:r>
              <a:rPr dirty="0" sz="1050" spc="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trigger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sebagai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jalur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tambahan,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bukan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pengganti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REST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langsung</a:t>
            </a:r>
            <a:endParaRPr sz="1050">
              <a:latin typeface="Calibri"/>
              <a:cs typeface="Calibri"/>
            </a:endParaRPr>
          </a:p>
          <a:p>
            <a:pPr marL="355600" marR="106680" indent="-342900">
              <a:lnSpc>
                <a:spcPct val="117200"/>
              </a:lnSpc>
              <a:spcBef>
                <a:spcPts val="1150"/>
              </a:spcBef>
              <a:buChar char="▪"/>
              <a:tabLst>
                <a:tab pos="355600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Cell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Backend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diganti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Workflow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Automation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menjelaskan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urutan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node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n8n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(Webhook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Normalize</a:t>
            </a:r>
            <a:r>
              <a:rPr dirty="0" sz="1050" spc="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 Call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API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Decision →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Respond)</a:t>
            </a:r>
            <a:endParaRPr sz="1050">
              <a:latin typeface="Calibri"/>
              <a:cs typeface="Calibri"/>
            </a:endParaRPr>
          </a:p>
          <a:p>
            <a:pPr marL="355600" marR="5080" indent="-342900">
              <a:lnSpc>
                <a:spcPct val="116300"/>
              </a:lnSpc>
              <a:spcBef>
                <a:spcPts val="1165"/>
              </a:spcBef>
              <a:buChar char="▪"/>
              <a:tabLst>
                <a:tab pos="355600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Limitations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mencatat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jujur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bahwa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n8n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baru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teruji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</a:t>
            </a:r>
            <a:r>
              <a:rPr dirty="0" sz="1050" spc="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jalur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sukses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(true</a:t>
            </a:r>
            <a:r>
              <a:rPr dirty="0" sz="1050" spc="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branch)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secara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evidence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nyata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03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743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2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Y</a:t>
            </a:r>
            <a:r>
              <a:rPr dirty="0" sz="1200" spc="-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40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D</a:t>
            </a:r>
            <a:r>
              <a:rPr dirty="0" sz="1200" spc="-6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G</a:t>
            </a:r>
            <a:r>
              <a:rPr dirty="0" sz="1200" spc="-6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Data</a:t>
            </a:r>
            <a:r>
              <a:rPr dirty="0" spc="-7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Flow</a:t>
            </a:r>
            <a:r>
              <a:rPr dirty="0" spc="-9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Diagram</a:t>
            </a:r>
            <a:r>
              <a:rPr dirty="0" spc="-7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6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Dua Jalur</a:t>
            </a:r>
            <a:r>
              <a:rPr dirty="0" spc="-5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Client</a:t>
            </a:r>
          </a:p>
        </p:txBody>
      </p:sp>
      <p:pic>
        <p:nvPicPr>
          <p:cNvPr id="4" name="object 4" descr="/home/claude/diagrams/data_flow_diagr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20" y="1622322"/>
            <a:ext cx="5991590" cy="461843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772400" y="1466850"/>
            <a:ext cx="3886200" cy="4933950"/>
            <a:chOff x="7772400" y="1466850"/>
            <a:chExt cx="3886200" cy="4933950"/>
          </a:xfrm>
        </p:grpSpPr>
        <p:sp>
          <p:nvSpPr>
            <p:cNvPr id="6" name="object 6"/>
            <p:cNvSpPr/>
            <p:nvPr/>
          </p:nvSpPr>
          <p:spPr>
            <a:xfrm>
              <a:off x="7772400" y="1466850"/>
              <a:ext cx="3886200" cy="4933950"/>
            </a:xfrm>
            <a:custGeom>
              <a:avLst/>
              <a:gdLst/>
              <a:ahLst/>
              <a:cxnLst/>
              <a:rect l="l" t="t" r="r" b="b"/>
              <a:pathLst>
                <a:path w="3886200" h="4933950">
                  <a:moveTo>
                    <a:pt x="38130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860810"/>
                  </a:lnTo>
                  <a:lnTo>
                    <a:pt x="5750" y="4889281"/>
                  </a:lnTo>
                  <a:lnTo>
                    <a:pt x="21431" y="4912529"/>
                  </a:lnTo>
                  <a:lnTo>
                    <a:pt x="44684" y="4928203"/>
                  </a:lnTo>
                  <a:lnTo>
                    <a:pt x="73151" y="4933950"/>
                  </a:lnTo>
                  <a:lnTo>
                    <a:pt x="3813048" y="4933950"/>
                  </a:lnTo>
                  <a:lnTo>
                    <a:pt x="3841515" y="4928203"/>
                  </a:lnTo>
                  <a:lnTo>
                    <a:pt x="3864768" y="4912529"/>
                  </a:lnTo>
                  <a:lnTo>
                    <a:pt x="3880449" y="4889281"/>
                  </a:lnTo>
                  <a:lnTo>
                    <a:pt x="3886200" y="4860810"/>
                  </a:lnTo>
                  <a:lnTo>
                    <a:pt x="3886200" y="73151"/>
                  </a:lnTo>
                  <a:lnTo>
                    <a:pt x="3880449" y="44684"/>
                  </a:lnTo>
                  <a:lnTo>
                    <a:pt x="3864768" y="21431"/>
                  </a:lnTo>
                  <a:lnTo>
                    <a:pt x="3841515" y="5750"/>
                  </a:lnTo>
                  <a:lnTo>
                    <a:pt x="3813048" y="0"/>
                  </a:lnTo>
                  <a:close/>
                </a:path>
              </a:pathLst>
            </a:custGeom>
            <a:solidFill>
              <a:srgbClr val="0A24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053450" y="2519425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 h="0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ln w="12700">
              <a:solidFill>
                <a:srgbClr val="1C71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039989" y="1697990"/>
            <a:ext cx="3238500" cy="36734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25"/>
              </a:spcBef>
            </a:pPr>
            <a:r>
              <a:rPr dirty="0" sz="1100" spc="80" b="1">
                <a:solidFill>
                  <a:srgbClr val="F4A200"/>
                </a:solidFill>
                <a:latin typeface="Calibri"/>
                <a:cs typeface="Calibri"/>
              </a:rPr>
              <a:t>ALUR</a:t>
            </a:r>
            <a:r>
              <a:rPr dirty="0" sz="1100" spc="24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spc="65" b="1">
                <a:solidFill>
                  <a:srgbClr val="F4A200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  <a:p>
            <a:pPr marL="12700" marR="765175">
              <a:lnSpc>
                <a:spcPct val="119500"/>
              </a:lnSpc>
              <a:spcBef>
                <a:spcPts val="715"/>
              </a:spcBef>
            </a:pPr>
            <a:r>
              <a:rPr dirty="0" sz="1100" i="1">
                <a:solidFill>
                  <a:srgbClr val="E8F0F5"/>
                </a:solidFill>
                <a:latin typeface="Calibri"/>
                <a:cs typeface="Calibri"/>
              </a:rPr>
              <a:t>Client</a:t>
            </a:r>
            <a:r>
              <a:rPr dirty="0" sz="1100" spc="17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E8F0F5"/>
                </a:solidFill>
                <a:latin typeface="Calibri"/>
                <a:cs typeface="Calibri"/>
              </a:rPr>
              <a:t>→</a:t>
            </a:r>
            <a:r>
              <a:rPr dirty="0" sz="110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E8F0F5"/>
                </a:solidFill>
                <a:latin typeface="Calibri"/>
                <a:cs typeface="Calibri"/>
              </a:rPr>
              <a:t>Protocol</a:t>
            </a:r>
            <a:r>
              <a:rPr dirty="0" sz="1100" spc="13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E8F0F5"/>
                </a:solidFill>
                <a:latin typeface="Calibri"/>
                <a:cs typeface="Calibri"/>
              </a:rPr>
              <a:t>→</a:t>
            </a:r>
            <a:r>
              <a:rPr dirty="0" sz="110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E8F0F5"/>
                </a:solidFill>
                <a:latin typeface="Calibri"/>
                <a:cs typeface="Calibri"/>
              </a:rPr>
              <a:t>Service/Workflow</a:t>
            </a:r>
            <a:r>
              <a:rPr dirty="0" sz="1100" spc="204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100" spc="-50" i="1">
                <a:solidFill>
                  <a:srgbClr val="E8F0F5"/>
                </a:solidFill>
                <a:latin typeface="Calibri"/>
                <a:cs typeface="Calibri"/>
              </a:rPr>
              <a:t>→</a:t>
            </a:r>
            <a:r>
              <a:rPr dirty="0" sz="1100" spc="-10" i="1">
                <a:solidFill>
                  <a:srgbClr val="E8F0F5"/>
                </a:solidFill>
                <a:latin typeface="Calibri"/>
                <a:cs typeface="Calibri"/>
              </a:rPr>
              <a:t> Storage/Log/Evidence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Calibri"/>
              <a:cs typeface="Calibri"/>
            </a:endParaRPr>
          </a:p>
          <a:p>
            <a:pPr marL="447675" marR="5080" indent="-343535">
              <a:lnSpc>
                <a:spcPct val="122100"/>
              </a:lnSpc>
              <a:spcBef>
                <a:spcPts val="5"/>
              </a:spcBef>
              <a:buChar char="▪"/>
              <a:tabLst>
                <a:tab pos="447675" algn="l"/>
              </a:tabLst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Jalur</a:t>
            </a:r>
            <a:r>
              <a:rPr dirty="0" sz="105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langsung</a:t>
            </a:r>
            <a:r>
              <a:rPr dirty="0" sz="10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(navy):</a:t>
            </a:r>
            <a:r>
              <a:rPr dirty="0" sz="10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Postman</a:t>
            </a:r>
            <a:r>
              <a:rPr dirty="0" sz="10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0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Reliability</a:t>
            </a:r>
            <a:r>
              <a:rPr dirty="0" sz="10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API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dirty="0" sz="10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0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dirty="0" sz="10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Limiter/Load</a:t>
            </a:r>
            <a:r>
              <a:rPr dirty="0" sz="10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Balancer</a:t>
            </a:r>
            <a:r>
              <a:rPr dirty="0" sz="10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0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Response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JSON</a:t>
            </a:r>
            <a:endParaRPr sz="1050">
              <a:latin typeface="Calibri"/>
              <a:cs typeface="Calibri"/>
            </a:endParaRPr>
          </a:p>
          <a:p>
            <a:pPr marL="447675" marR="325120" indent="-343535">
              <a:lnSpc>
                <a:spcPct val="122200"/>
              </a:lnSpc>
              <a:spcBef>
                <a:spcPts val="1240"/>
              </a:spcBef>
              <a:buChar char="▪"/>
              <a:tabLst>
                <a:tab pos="447675" algn="l"/>
              </a:tabLst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Jalur</a:t>
            </a:r>
            <a:r>
              <a:rPr dirty="0" sz="105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dirty="0" sz="10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n8n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(amber):</a:t>
            </a:r>
            <a:r>
              <a:rPr dirty="0" sz="10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Postman</a:t>
            </a:r>
            <a:r>
              <a:rPr dirty="0" sz="10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0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Webhook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Trigger</a:t>
            </a:r>
            <a:r>
              <a:rPr dirty="0" sz="105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0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Normalize</a:t>
            </a:r>
            <a:r>
              <a:rPr dirty="0" sz="10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dirty="0" sz="10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0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dirty="0" sz="10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dirty="0" sz="10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 Decision</a:t>
            </a:r>
            <a:r>
              <a:rPr dirty="0" sz="10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endParaRPr sz="1050">
              <a:latin typeface="Calibri"/>
              <a:cs typeface="Calibri"/>
            </a:endParaRPr>
          </a:p>
          <a:p>
            <a:pPr marL="447675" marR="59055" indent="-343535">
              <a:lnSpc>
                <a:spcPct val="125200"/>
              </a:lnSpc>
              <a:spcBef>
                <a:spcPts val="1200"/>
              </a:spcBef>
              <a:buChar char="▪"/>
              <a:tabLst>
                <a:tab pos="447675" algn="l"/>
              </a:tabLst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Kedua</a:t>
            </a:r>
            <a:r>
              <a:rPr dirty="0" sz="10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jalur</a:t>
            </a:r>
            <a:r>
              <a:rPr dirty="0" sz="10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bertemu</a:t>
            </a:r>
            <a:r>
              <a:rPr dirty="0"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dirty="0" sz="10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'Build</a:t>
            </a:r>
            <a:r>
              <a:rPr dirty="0" sz="10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Response'</a:t>
            </a:r>
            <a:r>
              <a:rPr dirty="0" sz="10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sebelum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masuk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Evidence</a:t>
            </a:r>
            <a:r>
              <a:rPr dirty="0" sz="10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n8n</a:t>
            </a:r>
            <a:r>
              <a:rPr dirty="0" sz="10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adalah</a:t>
            </a:r>
            <a:r>
              <a:rPr dirty="0" sz="10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pelengkap</a:t>
            </a:r>
            <a:endParaRPr sz="1050">
              <a:latin typeface="Calibri"/>
              <a:cs typeface="Calibri"/>
            </a:endParaRPr>
          </a:p>
          <a:p>
            <a:pPr marL="447675">
              <a:lnSpc>
                <a:spcPct val="100000"/>
              </a:lnSpc>
              <a:spcBef>
                <a:spcPts val="240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orchestration,</a:t>
            </a:r>
            <a:r>
              <a:rPr dirty="0" sz="10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bukan</a:t>
            </a:r>
            <a:r>
              <a:rPr dirty="0" sz="10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pengganti</a:t>
            </a:r>
            <a:r>
              <a:rPr dirty="0" sz="105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endParaRPr sz="1050">
              <a:latin typeface="Calibri"/>
              <a:cs typeface="Calibri"/>
            </a:endParaRPr>
          </a:p>
          <a:p>
            <a:pPr marL="447675" marR="85725" indent="-343535">
              <a:lnSpc>
                <a:spcPct val="125200"/>
              </a:lnSpc>
              <a:spcBef>
                <a:spcPts val="1200"/>
              </a:spcBef>
              <a:buChar char="▪"/>
              <a:tabLst>
                <a:tab pos="447675" algn="l"/>
              </a:tabLst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Evidence</a:t>
            </a:r>
            <a:r>
              <a:rPr dirty="0" sz="10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akhir</a:t>
            </a:r>
            <a:r>
              <a:rPr dirty="0" sz="10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mencakup</a:t>
            </a:r>
            <a:r>
              <a:rPr dirty="0" sz="10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log,</a:t>
            </a:r>
            <a:r>
              <a:rPr dirty="0" sz="10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screenshot,</a:t>
            </a:r>
            <a:r>
              <a:rPr dirty="0" sz="10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status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code,</a:t>
            </a:r>
            <a:r>
              <a:rPr dirty="0" sz="10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dan</a:t>
            </a:r>
            <a:r>
              <a:rPr dirty="0" sz="10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n8n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dirty="0" sz="10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history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04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743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2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Y</a:t>
            </a:r>
            <a:r>
              <a:rPr dirty="0" sz="1200" spc="-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40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D</a:t>
            </a:r>
            <a:r>
              <a:rPr dirty="0" sz="1200" spc="-6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G</a:t>
            </a:r>
            <a:r>
              <a:rPr dirty="0" sz="1200" spc="-6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Protocol</a:t>
            </a:r>
            <a:r>
              <a:rPr dirty="0" spc="-2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Selection: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HTTP</a:t>
            </a:r>
            <a:r>
              <a:rPr dirty="0" spc="-7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REST</a:t>
            </a:r>
            <a:r>
              <a:rPr dirty="0" spc="-1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+</a:t>
            </a:r>
            <a:r>
              <a:rPr dirty="0" spc="-95">
                <a:solidFill>
                  <a:srgbClr val="0A2445"/>
                </a:solidFill>
              </a:rPr>
              <a:t> </a:t>
            </a:r>
            <a:r>
              <a:rPr dirty="0" spc="-20">
                <a:solidFill>
                  <a:srgbClr val="0A2445"/>
                </a:solidFill>
              </a:rPr>
              <a:t>JSON</a:t>
            </a:r>
          </a:p>
        </p:txBody>
      </p:sp>
      <p:sp>
        <p:nvSpPr>
          <p:cNvPr id="4" name="object 4"/>
          <p:cNvSpPr/>
          <p:nvPr/>
        </p:nvSpPr>
        <p:spPr>
          <a:xfrm>
            <a:off x="552450" y="1600200"/>
            <a:ext cx="4933950" cy="4572000"/>
          </a:xfrm>
          <a:custGeom>
            <a:avLst/>
            <a:gdLst/>
            <a:ahLst/>
            <a:cxnLst/>
            <a:rect l="l" t="t" r="r" b="b"/>
            <a:pathLst>
              <a:path w="4933950" h="4572000">
                <a:moveTo>
                  <a:pt x="4860798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4498848"/>
                </a:lnTo>
                <a:lnTo>
                  <a:pt x="5748" y="4527321"/>
                </a:lnTo>
                <a:lnTo>
                  <a:pt x="21426" y="4550573"/>
                </a:lnTo>
                <a:lnTo>
                  <a:pt x="44678" y="4566251"/>
                </a:lnTo>
                <a:lnTo>
                  <a:pt x="73151" y="4572000"/>
                </a:lnTo>
                <a:lnTo>
                  <a:pt x="4860798" y="4572000"/>
                </a:lnTo>
                <a:lnTo>
                  <a:pt x="4889265" y="4566251"/>
                </a:lnTo>
                <a:lnTo>
                  <a:pt x="4912518" y="4550573"/>
                </a:lnTo>
                <a:lnTo>
                  <a:pt x="4928199" y="4527321"/>
                </a:lnTo>
                <a:lnTo>
                  <a:pt x="4933950" y="4498848"/>
                </a:lnTo>
                <a:lnTo>
                  <a:pt x="4933950" y="73151"/>
                </a:lnTo>
                <a:lnTo>
                  <a:pt x="4928199" y="44684"/>
                </a:lnTo>
                <a:lnTo>
                  <a:pt x="4912518" y="21431"/>
                </a:lnTo>
                <a:lnTo>
                  <a:pt x="4889265" y="5750"/>
                </a:lnTo>
                <a:lnTo>
                  <a:pt x="4860798" y="0"/>
                </a:lnTo>
                <a:close/>
              </a:path>
            </a:pathLst>
          </a:custGeom>
          <a:solidFill>
            <a:srgbClr val="0A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6614" y="1838160"/>
            <a:ext cx="2547620" cy="11677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315"/>
              </a:spcBef>
            </a:pP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P</a:t>
            </a:r>
            <a:r>
              <a:rPr dirty="0" sz="110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spc="60" b="1">
                <a:solidFill>
                  <a:srgbClr val="F4A200"/>
                </a:solidFill>
                <a:latin typeface="Calibri"/>
                <a:cs typeface="Calibri"/>
              </a:rPr>
              <a:t>RO</a:t>
            </a:r>
            <a:r>
              <a:rPr dirty="0" sz="110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T</a:t>
            </a:r>
            <a:r>
              <a:rPr dirty="0" sz="1100" spc="-4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10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CO</a:t>
            </a:r>
            <a:r>
              <a:rPr dirty="0" sz="1100" spc="-10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L</a:t>
            </a:r>
            <a:r>
              <a:rPr dirty="0" sz="1100" spc="37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spc="55" b="1">
                <a:solidFill>
                  <a:srgbClr val="F4A200"/>
                </a:solidFill>
                <a:latin typeface="Calibri"/>
                <a:cs typeface="Calibri"/>
              </a:rPr>
              <a:t>UT</a:t>
            </a:r>
            <a:r>
              <a:rPr dirty="0" sz="1100" spc="-3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4A200"/>
                </a:solidFill>
                <a:latin typeface="Calibri"/>
                <a:cs typeface="Calibri"/>
              </a:rPr>
              <a:t>A</a:t>
            </a:r>
            <a:r>
              <a:rPr dirty="0" sz="110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F4A200"/>
                </a:solidFill>
                <a:latin typeface="Calibri"/>
                <a:cs typeface="Calibri"/>
              </a:rPr>
              <a:t>MA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800" b="1">
                <a:solidFill>
                  <a:srgbClr val="FFFFFF"/>
                </a:solidFill>
                <a:latin typeface="Cambria"/>
                <a:cs typeface="Cambria"/>
              </a:rPr>
              <a:t>HTTP</a:t>
            </a:r>
            <a:r>
              <a:rPr dirty="0" sz="38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800" spc="-20" b="1">
                <a:solidFill>
                  <a:srgbClr val="FFFFFF"/>
                </a:solidFill>
                <a:latin typeface="Cambria"/>
                <a:cs typeface="Cambria"/>
              </a:rPr>
              <a:t>REST</a:t>
            </a:r>
            <a:endParaRPr sz="3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250" i="1">
                <a:solidFill>
                  <a:srgbClr val="E8F0F5"/>
                </a:solidFill>
                <a:latin typeface="Courier New"/>
                <a:cs typeface="Courier New"/>
              </a:rPr>
              <a:t>payload</a:t>
            </a:r>
            <a:r>
              <a:rPr dirty="0" sz="1250" spc="195" i="1">
                <a:solidFill>
                  <a:srgbClr val="E8F0F5"/>
                </a:solidFill>
                <a:latin typeface="Courier New"/>
                <a:cs typeface="Courier New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ourier New"/>
                <a:cs typeface="Courier New"/>
              </a:rPr>
              <a:t>format:</a:t>
            </a:r>
            <a:r>
              <a:rPr dirty="0" sz="1250" spc="110" i="1">
                <a:solidFill>
                  <a:srgbClr val="E8F0F5"/>
                </a:solidFill>
                <a:latin typeface="Courier New"/>
                <a:cs typeface="Courier New"/>
              </a:rPr>
              <a:t> </a:t>
            </a:r>
            <a:r>
              <a:rPr dirty="0" sz="1250" spc="-20" i="1">
                <a:solidFill>
                  <a:srgbClr val="E8F0F5"/>
                </a:solidFill>
                <a:latin typeface="Courier New"/>
                <a:cs typeface="Courier New"/>
              </a:rPr>
              <a:t>JSON</a:t>
            </a:r>
            <a:endParaRPr sz="12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5187" y="3198876"/>
            <a:ext cx="4309110" cy="916305"/>
            <a:chOff x="865187" y="3198876"/>
            <a:chExt cx="4309110" cy="916305"/>
          </a:xfrm>
        </p:grpSpPr>
        <p:sp>
          <p:nvSpPr>
            <p:cNvPr id="7" name="object 7"/>
            <p:cNvSpPr/>
            <p:nvPr/>
          </p:nvSpPr>
          <p:spPr>
            <a:xfrm>
              <a:off x="871537" y="3205226"/>
              <a:ext cx="4296410" cy="0"/>
            </a:xfrm>
            <a:custGeom>
              <a:avLst/>
              <a:gdLst/>
              <a:ahLst/>
              <a:cxnLst/>
              <a:rect l="l" t="t" r="r" b="b"/>
              <a:pathLst>
                <a:path w="4296410" h="0">
                  <a:moveTo>
                    <a:pt x="0" y="0"/>
                  </a:moveTo>
                  <a:lnTo>
                    <a:pt x="4295838" y="0"/>
                  </a:lnTo>
                </a:path>
              </a:pathLst>
            </a:custGeom>
            <a:ln w="12700">
              <a:solidFill>
                <a:srgbClr val="1C719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6775" y="3657600"/>
              <a:ext cx="4029075" cy="457200"/>
            </a:xfrm>
            <a:custGeom>
              <a:avLst/>
              <a:gdLst/>
              <a:ahLst/>
              <a:cxnLst/>
              <a:rect l="l" t="t" r="r" b="b"/>
              <a:pathLst>
                <a:path w="4029075" h="457200">
                  <a:moveTo>
                    <a:pt x="3974211" y="0"/>
                  </a:moveTo>
                  <a:lnTo>
                    <a:pt x="54863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02336"/>
                  </a:lnTo>
                  <a:lnTo>
                    <a:pt x="4311" y="423713"/>
                  </a:lnTo>
                  <a:lnTo>
                    <a:pt x="16068" y="441150"/>
                  </a:lnTo>
                  <a:lnTo>
                    <a:pt x="33507" y="452895"/>
                  </a:lnTo>
                  <a:lnTo>
                    <a:pt x="54863" y="457200"/>
                  </a:lnTo>
                  <a:lnTo>
                    <a:pt x="3974211" y="457200"/>
                  </a:lnTo>
                  <a:lnTo>
                    <a:pt x="3995588" y="452895"/>
                  </a:lnTo>
                  <a:lnTo>
                    <a:pt x="4013025" y="441150"/>
                  </a:lnTo>
                  <a:lnTo>
                    <a:pt x="4024770" y="423713"/>
                  </a:lnTo>
                  <a:lnTo>
                    <a:pt x="4029075" y="402336"/>
                  </a:lnTo>
                  <a:lnTo>
                    <a:pt x="4029075" y="54863"/>
                  </a:lnTo>
                  <a:lnTo>
                    <a:pt x="4024770" y="33486"/>
                  </a:lnTo>
                  <a:lnTo>
                    <a:pt x="4013025" y="16049"/>
                  </a:lnTo>
                  <a:lnTo>
                    <a:pt x="3995588" y="4304"/>
                  </a:lnTo>
                  <a:lnTo>
                    <a:pt x="3974211" y="0"/>
                  </a:lnTo>
                  <a:close/>
                </a:path>
              </a:pathLst>
            </a:custGeom>
            <a:solidFill>
              <a:srgbClr val="1230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48055" y="3414140"/>
            <a:ext cx="6927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B</a:t>
            </a:r>
            <a:r>
              <a:rPr dirty="0" sz="1050" spc="-7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50" b="1">
                <a:solidFill>
                  <a:srgbClr val="F4A200"/>
                </a:solidFill>
                <a:latin typeface="Calibri"/>
                <a:cs typeface="Calibri"/>
              </a:rPr>
              <a:t>AS</a:t>
            </a:r>
            <a:r>
              <a:rPr dirty="0" sz="1050" spc="-6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E</a:t>
            </a:r>
            <a:r>
              <a:rPr dirty="0" sz="1050" spc="2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4A200"/>
                </a:solidFill>
                <a:latin typeface="Calibri"/>
                <a:cs typeface="Calibri"/>
              </a:rPr>
              <a:t>U</a:t>
            </a:r>
            <a:r>
              <a:rPr dirty="0" sz="1050" spc="-10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R</a:t>
            </a:r>
            <a:r>
              <a:rPr dirty="0" sz="10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50" b="1">
                <a:solidFill>
                  <a:srgbClr val="F4A200"/>
                </a:solidFill>
                <a:latin typeface="Calibri"/>
                <a:cs typeface="Calibri"/>
              </a:rPr>
              <a:t>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2345" y="3752786"/>
            <a:ext cx="225806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05D59F"/>
                </a:solidFill>
                <a:latin typeface="Courier New"/>
                <a:cs typeface="Courier New"/>
                <a:hlinkClick r:id="rId2"/>
              </a:rPr>
              <a:t>http://127.0.0.1:8088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66795" y="4600575"/>
            <a:ext cx="2057400" cy="295275"/>
            <a:chOff x="866795" y="4600575"/>
            <a:chExt cx="2057400" cy="295275"/>
          </a:xfrm>
        </p:grpSpPr>
        <p:sp>
          <p:nvSpPr>
            <p:cNvPr id="12" name="object 12"/>
            <p:cNvSpPr/>
            <p:nvPr/>
          </p:nvSpPr>
          <p:spPr>
            <a:xfrm>
              <a:off x="866795" y="4600575"/>
              <a:ext cx="962025" cy="295275"/>
            </a:xfrm>
            <a:custGeom>
              <a:avLst/>
              <a:gdLst/>
              <a:ahLst/>
              <a:cxnLst/>
              <a:rect l="l" t="t" r="r" b="b"/>
              <a:pathLst>
                <a:path w="962025" h="295275">
                  <a:moveTo>
                    <a:pt x="814430" y="0"/>
                  </a:moveTo>
                  <a:lnTo>
                    <a:pt x="147617" y="0"/>
                  </a:lnTo>
                  <a:lnTo>
                    <a:pt x="100953" y="7521"/>
                  </a:lnTo>
                  <a:lnTo>
                    <a:pt x="60425" y="28472"/>
                  </a:lnTo>
                  <a:lnTo>
                    <a:pt x="28466" y="60432"/>
                  </a:lnTo>
                  <a:lnTo>
                    <a:pt x="7506" y="100982"/>
                  </a:lnTo>
                  <a:lnTo>
                    <a:pt x="0" y="147700"/>
                  </a:lnTo>
                  <a:lnTo>
                    <a:pt x="7540" y="194357"/>
                  </a:lnTo>
                  <a:lnTo>
                    <a:pt x="28493" y="234869"/>
                  </a:lnTo>
                  <a:lnTo>
                    <a:pt x="60441" y="266810"/>
                  </a:lnTo>
                  <a:lnTo>
                    <a:pt x="100959" y="287754"/>
                  </a:lnTo>
                  <a:lnTo>
                    <a:pt x="147617" y="295275"/>
                  </a:lnTo>
                  <a:lnTo>
                    <a:pt x="814303" y="295275"/>
                  </a:lnTo>
                  <a:lnTo>
                    <a:pt x="861022" y="287754"/>
                  </a:lnTo>
                  <a:lnTo>
                    <a:pt x="901571" y="266810"/>
                  </a:lnTo>
                  <a:lnTo>
                    <a:pt x="933532" y="234869"/>
                  </a:lnTo>
                  <a:lnTo>
                    <a:pt x="954483" y="194357"/>
                  </a:lnTo>
                  <a:lnTo>
                    <a:pt x="962004" y="147700"/>
                  </a:lnTo>
                  <a:lnTo>
                    <a:pt x="954484" y="100982"/>
                  </a:lnTo>
                  <a:lnTo>
                    <a:pt x="933540" y="60432"/>
                  </a:lnTo>
                  <a:lnTo>
                    <a:pt x="901599" y="28472"/>
                  </a:lnTo>
                  <a:lnTo>
                    <a:pt x="861087" y="7521"/>
                  </a:lnTo>
                  <a:lnTo>
                    <a:pt x="814430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62170" y="4600575"/>
              <a:ext cx="962025" cy="295275"/>
            </a:xfrm>
            <a:custGeom>
              <a:avLst/>
              <a:gdLst/>
              <a:ahLst/>
              <a:cxnLst/>
              <a:rect l="l" t="t" r="r" b="b"/>
              <a:pathLst>
                <a:path w="962025" h="295275">
                  <a:moveTo>
                    <a:pt x="814430" y="0"/>
                  </a:moveTo>
                  <a:lnTo>
                    <a:pt x="147680" y="0"/>
                  </a:lnTo>
                  <a:lnTo>
                    <a:pt x="100961" y="7521"/>
                  </a:lnTo>
                  <a:lnTo>
                    <a:pt x="60412" y="28472"/>
                  </a:lnTo>
                  <a:lnTo>
                    <a:pt x="28451" y="60432"/>
                  </a:lnTo>
                  <a:lnTo>
                    <a:pt x="7501" y="100982"/>
                  </a:lnTo>
                  <a:lnTo>
                    <a:pt x="0" y="147700"/>
                  </a:lnTo>
                  <a:lnTo>
                    <a:pt x="7534" y="194357"/>
                  </a:lnTo>
                  <a:lnTo>
                    <a:pt x="28479" y="234869"/>
                  </a:lnTo>
                  <a:lnTo>
                    <a:pt x="60427" y="266810"/>
                  </a:lnTo>
                  <a:lnTo>
                    <a:pt x="100968" y="287754"/>
                  </a:lnTo>
                  <a:lnTo>
                    <a:pt x="147680" y="295275"/>
                  </a:lnTo>
                  <a:lnTo>
                    <a:pt x="814303" y="295275"/>
                  </a:lnTo>
                  <a:lnTo>
                    <a:pt x="861022" y="287754"/>
                  </a:lnTo>
                  <a:lnTo>
                    <a:pt x="901571" y="266810"/>
                  </a:lnTo>
                  <a:lnTo>
                    <a:pt x="933532" y="234869"/>
                  </a:lnTo>
                  <a:lnTo>
                    <a:pt x="954483" y="194357"/>
                  </a:lnTo>
                  <a:lnTo>
                    <a:pt x="962004" y="147700"/>
                  </a:lnTo>
                  <a:lnTo>
                    <a:pt x="954484" y="100982"/>
                  </a:lnTo>
                  <a:lnTo>
                    <a:pt x="933540" y="60432"/>
                  </a:lnTo>
                  <a:lnTo>
                    <a:pt x="901599" y="28472"/>
                  </a:lnTo>
                  <a:lnTo>
                    <a:pt x="861087" y="7521"/>
                  </a:lnTo>
                  <a:lnTo>
                    <a:pt x="814430" y="0"/>
                  </a:lnTo>
                  <a:close/>
                </a:path>
              </a:pathLst>
            </a:custGeom>
            <a:solidFill>
              <a:srgbClr val="F4A2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48055" y="4329683"/>
            <a:ext cx="2342515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F4A200"/>
                </a:solidFill>
                <a:latin typeface="Calibri"/>
                <a:cs typeface="Calibri"/>
              </a:rPr>
              <a:t>S</a:t>
            </a:r>
            <a:r>
              <a:rPr dirty="0" sz="1050" spc="-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4A200"/>
                </a:solidFill>
                <a:latin typeface="Calibri"/>
                <a:cs typeface="Calibri"/>
              </a:rPr>
              <a:t>T</a:t>
            </a:r>
            <a:r>
              <a:rPr dirty="0" sz="1050" spc="-8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50" b="1">
                <a:solidFill>
                  <a:srgbClr val="F4A200"/>
                </a:solidFill>
                <a:latin typeface="Calibri"/>
                <a:cs typeface="Calibri"/>
              </a:rPr>
              <a:t>AT</a:t>
            </a:r>
            <a:r>
              <a:rPr dirty="0" sz="10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4A200"/>
                </a:solidFill>
                <a:latin typeface="Calibri"/>
                <a:cs typeface="Calibri"/>
              </a:rPr>
              <a:t>U</a:t>
            </a:r>
            <a:r>
              <a:rPr dirty="0" sz="1050" spc="-9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S</a:t>
            </a:r>
            <a:r>
              <a:rPr dirty="0" sz="1050" spc="32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C</a:t>
            </a:r>
            <a:r>
              <a:rPr dirty="0" sz="1050" spc="-3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50" b="1">
                <a:solidFill>
                  <a:srgbClr val="F4A200"/>
                </a:solidFill>
                <a:latin typeface="Calibri"/>
                <a:cs typeface="Calibri"/>
              </a:rPr>
              <a:t>OD</a:t>
            </a:r>
            <a:r>
              <a:rPr dirty="0" sz="105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E</a:t>
            </a:r>
            <a:r>
              <a:rPr dirty="0" sz="1050" spc="31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B</a:t>
            </a:r>
            <a:r>
              <a:rPr dirty="0" sz="105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50" b="1">
                <a:solidFill>
                  <a:srgbClr val="F4A200"/>
                </a:solidFill>
                <a:latin typeface="Calibri"/>
                <a:cs typeface="Calibri"/>
              </a:rPr>
              <a:t>AH</a:t>
            </a:r>
            <a:r>
              <a:rPr dirty="0" sz="105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A</a:t>
            </a:r>
            <a:r>
              <a:rPr dirty="0" sz="1050" spc="-4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SA</a:t>
            </a:r>
            <a:r>
              <a:rPr dirty="0" sz="1050" spc="33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4A200"/>
                </a:solidFill>
                <a:latin typeface="Calibri"/>
                <a:cs typeface="Calibri"/>
              </a:rPr>
              <a:t>S</a:t>
            </a:r>
            <a:r>
              <a:rPr dirty="0" sz="1050" spc="-5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4A200"/>
                </a:solidFill>
                <a:latin typeface="Calibri"/>
                <a:cs typeface="Calibri"/>
              </a:rPr>
              <a:t>T</a:t>
            </a:r>
            <a:r>
              <a:rPr dirty="0" sz="1050" spc="-8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50" b="1">
                <a:solidFill>
                  <a:srgbClr val="F4A200"/>
                </a:solidFill>
                <a:latin typeface="Calibri"/>
                <a:cs typeface="Calibri"/>
              </a:rPr>
              <a:t>AN</a:t>
            </a:r>
            <a:r>
              <a:rPr dirty="0" sz="1050" spc="-10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4A200"/>
                </a:solidFill>
                <a:latin typeface="Calibri"/>
                <a:cs typeface="Calibri"/>
              </a:rPr>
              <a:t>D</a:t>
            </a:r>
            <a:r>
              <a:rPr dirty="0" sz="105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4A200"/>
                </a:solidFill>
                <a:latin typeface="Calibri"/>
                <a:cs typeface="Calibri"/>
              </a:rPr>
              <a:t>A</a:t>
            </a:r>
            <a:r>
              <a:rPr dirty="0" sz="1050" spc="-4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050" spc="-50" b="1">
                <a:solidFill>
                  <a:srgbClr val="F4A200"/>
                </a:solidFill>
                <a:latin typeface="Calibri"/>
                <a:cs typeface="Calibri"/>
              </a:rPr>
              <a:t>R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72720">
              <a:lnSpc>
                <a:spcPct val="100000"/>
              </a:lnSpc>
              <a:tabLst>
                <a:tab pos="1384935" algn="l"/>
              </a:tabLst>
            </a:pPr>
            <a:r>
              <a:rPr dirty="0" sz="950" b="1">
                <a:solidFill>
                  <a:srgbClr val="FFFFFF"/>
                </a:solidFill>
                <a:latin typeface="Courier New"/>
                <a:cs typeface="Courier New"/>
              </a:rPr>
              <a:t>200</a:t>
            </a:r>
            <a:r>
              <a:rPr dirty="0" sz="950" spc="9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50" spc="-35" b="1">
                <a:solidFill>
                  <a:srgbClr val="FFFFFF"/>
                </a:solidFill>
                <a:latin typeface="Courier New"/>
                <a:cs typeface="Courier New"/>
              </a:rPr>
              <a:t>OK</a:t>
            </a:r>
            <a:r>
              <a:rPr dirty="0" sz="950" b="1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950" spc="-25" b="1">
                <a:solidFill>
                  <a:srgbClr val="FFFFFF"/>
                </a:solidFill>
                <a:latin typeface="Courier New"/>
                <a:cs typeface="Courier New"/>
              </a:rPr>
              <a:t>429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6614" y="5137340"/>
            <a:ext cx="3931285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95"/>
              </a:spcBef>
            </a:pP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→</a:t>
            </a:r>
            <a:r>
              <a:rPr dirty="0" sz="950" spc="5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menandakan</a:t>
            </a:r>
            <a:r>
              <a:rPr dirty="0" sz="950" spc="7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sukses</a:t>
            </a:r>
            <a:r>
              <a:rPr dirty="0" sz="950" spc="3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/</a:t>
            </a:r>
            <a:r>
              <a:rPr dirty="0" sz="950" spc="12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rate-limited</a:t>
            </a:r>
            <a:r>
              <a:rPr dirty="0" sz="950" spc="7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langsung</a:t>
            </a:r>
            <a:r>
              <a:rPr dirty="0" sz="950" spc="-2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dari</a:t>
            </a:r>
            <a:r>
              <a:rPr dirty="0" sz="950" spc="4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status</a:t>
            </a:r>
            <a:r>
              <a:rPr dirty="0" sz="950" spc="12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HTTP,</a:t>
            </a:r>
            <a:r>
              <a:rPr dirty="0" sz="950" spc="2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10" i="1">
                <a:solidFill>
                  <a:srgbClr val="E8F0F5"/>
                </a:solidFill>
                <a:latin typeface="Calibri"/>
                <a:cs typeface="Calibri"/>
              </a:rPr>
              <a:t>tanpa</a:t>
            </a:r>
            <a:r>
              <a:rPr dirty="0" sz="950" spc="7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E8F0F5"/>
                </a:solidFill>
                <a:latin typeface="Calibri"/>
                <a:cs typeface="Calibri"/>
              </a:rPr>
              <a:t>perlu </a:t>
            </a:r>
            <a:r>
              <a:rPr dirty="0" sz="950" i="1">
                <a:solidFill>
                  <a:srgbClr val="E8F0F5"/>
                </a:solidFill>
                <a:latin typeface="Calibri"/>
                <a:cs typeface="Calibri"/>
              </a:rPr>
              <a:t>parsing</a:t>
            </a:r>
            <a:r>
              <a:rPr dirty="0" sz="950" spc="12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950" spc="-20" i="1">
                <a:solidFill>
                  <a:srgbClr val="E8F0F5"/>
                </a:solidFill>
                <a:latin typeface="Calibri"/>
                <a:cs typeface="Calibri"/>
              </a:rPr>
              <a:t>body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15000" y="1600200"/>
            <a:ext cx="5895975" cy="1419225"/>
            <a:chOff x="5715000" y="1600200"/>
            <a:chExt cx="5895975" cy="1419225"/>
          </a:xfrm>
        </p:grpSpPr>
        <p:sp>
          <p:nvSpPr>
            <p:cNvPr id="17" name="object 17"/>
            <p:cNvSpPr/>
            <p:nvPr/>
          </p:nvSpPr>
          <p:spPr>
            <a:xfrm>
              <a:off x="5715000" y="1600200"/>
              <a:ext cx="5895975" cy="1419225"/>
            </a:xfrm>
            <a:custGeom>
              <a:avLst/>
              <a:gdLst/>
              <a:ahLst/>
              <a:cxnLst/>
              <a:rect l="l" t="t" r="r" b="b"/>
              <a:pathLst>
                <a:path w="5895975" h="1419225">
                  <a:moveTo>
                    <a:pt x="5822696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8"/>
                  </a:lnTo>
                  <a:lnTo>
                    <a:pt x="0" y="1345946"/>
                  </a:lnTo>
                  <a:lnTo>
                    <a:pt x="5752" y="1374487"/>
                  </a:lnTo>
                  <a:lnTo>
                    <a:pt x="21447" y="1397777"/>
                  </a:lnTo>
                  <a:lnTo>
                    <a:pt x="44737" y="1413472"/>
                  </a:lnTo>
                  <a:lnTo>
                    <a:pt x="73278" y="1419225"/>
                  </a:lnTo>
                  <a:lnTo>
                    <a:pt x="5822696" y="1419225"/>
                  </a:lnTo>
                  <a:lnTo>
                    <a:pt x="5851237" y="1413472"/>
                  </a:lnTo>
                  <a:lnTo>
                    <a:pt x="5874527" y="1397777"/>
                  </a:lnTo>
                  <a:lnTo>
                    <a:pt x="5890222" y="1374487"/>
                  </a:lnTo>
                  <a:lnTo>
                    <a:pt x="5895975" y="1345946"/>
                  </a:lnTo>
                  <a:lnTo>
                    <a:pt x="5895975" y="73278"/>
                  </a:lnTo>
                  <a:lnTo>
                    <a:pt x="5890222" y="44737"/>
                  </a:lnTo>
                  <a:lnTo>
                    <a:pt x="5874527" y="21447"/>
                  </a:lnTo>
                  <a:lnTo>
                    <a:pt x="5851237" y="5752"/>
                  </a:lnTo>
                  <a:lnTo>
                    <a:pt x="5822696" y="0"/>
                  </a:lnTo>
                  <a:close/>
                </a:path>
              </a:pathLst>
            </a:custGeom>
            <a:solidFill>
              <a:srgbClr val="E8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43600" y="18573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C71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04001" y="1943417"/>
            <a:ext cx="1441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6059" y="1686036"/>
            <a:ext cx="4773930" cy="82296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400" spc="-20" b="1">
                <a:solidFill>
                  <a:srgbClr val="0A2445"/>
                </a:solidFill>
                <a:latin typeface="Calibri"/>
                <a:cs typeface="Calibri"/>
              </a:rPr>
              <a:t>Gateway-</a:t>
            </a:r>
            <a:r>
              <a:rPr dirty="0" sz="1400" b="1">
                <a:solidFill>
                  <a:srgbClr val="0A2445"/>
                </a:solidFill>
                <a:latin typeface="Calibri"/>
                <a:cs typeface="Calibri"/>
              </a:rPr>
              <a:t>level</a:t>
            </a:r>
            <a:r>
              <a:rPr dirty="0" sz="1400" spc="1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A2445"/>
                </a:solidFill>
                <a:latin typeface="Calibri"/>
                <a:cs typeface="Calibri"/>
              </a:rPr>
              <a:t>standard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13799"/>
              </a:lnSpc>
              <a:spcBef>
                <a:spcPts val="605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Rate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limiting</a:t>
            </a:r>
            <a:r>
              <a:rPr dirty="0" sz="1100" spc="-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&amp;</a:t>
            </a:r>
            <a:r>
              <a:rPr dirty="0" sz="1100" spc="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load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balancing</a:t>
            </a:r>
            <a:r>
              <a:rPr dirty="0" sz="1100" spc="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lazim</a:t>
            </a:r>
            <a:r>
              <a:rPr dirty="0" sz="1100" spc="-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diimplementasikan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di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level</a:t>
            </a:r>
            <a:r>
              <a:rPr dirty="0" sz="1100" spc="-6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HTTP/API</a:t>
            </a:r>
            <a:r>
              <a:rPr dirty="0" sz="1100" spc="-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gateway;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status</a:t>
            </a:r>
            <a:r>
              <a:rPr dirty="0" sz="1100" spc="-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code</a:t>
            </a:r>
            <a:r>
              <a:rPr dirty="0" sz="1100" spc="-6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(200, 429)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menjadi</a:t>
            </a:r>
            <a:r>
              <a:rPr dirty="0" sz="1100" spc="2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bahasa</a:t>
            </a:r>
            <a:r>
              <a:rPr dirty="0" sz="1100" spc="-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standar</a:t>
            </a:r>
            <a:r>
              <a:rPr dirty="0" sz="1100" spc="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mengomunikasikan</a:t>
            </a:r>
            <a:r>
              <a:rPr dirty="0" sz="1100" spc="-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kondisi</a:t>
            </a:r>
            <a:r>
              <a:rPr dirty="0" sz="1100" spc="2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ke</a:t>
            </a:r>
            <a:r>
              <a:rPr dirty="0" sz="1100" spc="-5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client.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15000" y="3171825"/>
            <a:ext cx="5895975" cy="1419225"/>
            <a:chOff x="5715000" y="3171825"/>
            <a:chExt cx="5895975" cy="1419225"/>
          </a:xfrm>
        </p:grpSpPr>
        <p:sp>
          <p:nvSpPr>
            <p:cNvPr id="22" name="object 22"/>
            <p:cNvSpPr/>
            <p:nvPr/>
          </p:nvSpPr>
          <p:spPr>
            <a:xfrm>
              <a:off x="5715000" y="3171825"/>
              <a:ext cx="5895975" cy="1419225"/>
            </a:xfrm>
            <a:custGeom>
              <a:avLst/>
              <a:gdLst/>
              <a:ahLst/>
              <a:cxnLst/>
              <a:rect l="l" t="t" r="r" b="b"/>
              <a:pathLst>
                <a:path w="5895975" h="1419225">
                  <a:moveTo>
                    <a:pt x="5822696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8"/>
                  </a:lnTo>
                  <a:lnTo>
                    <a:pt x="0" y="1345945"/>
                  </a:lnTo>
                  <a:lnTo>
                    <a:pt x="5752" y="1374487"/>
                  </a:lnTo>
                  <a:lnTo>
                    <a:pt x="21447" y="1397777"/>
                  </a:lnTo>
                  <a:lnTo>
                    <a:pt x="44737" y="1413472"/>
                  </a:lnTo>
                  <a:lnTo>
                    <a:pt x="73278" y="1419225"/>
                  </a:lnTo>
                  <a:lnTo>
                    <a:pt x="5822696" y="1419225"/>
                  </a:lnTo>
                  <a:lnTo>
                    <a:pt x="5851237" y="1413472"/>
                  </a:lnTo>
                  <a:lnTo>
                    <a:pt x="5874527" y="1397777"/>
                  </a:lnTo>
                  <a:lnTo>
                    <a:pt x="5890222" y="1374487"/>
                  </a:lnTo>
                  <a:lnTo>
                    <a:pt x="5895975" y="1345945"/>
                  </a:lnTo>
                  <a:lnTo>
                    <a:pt x="5895975" y="73278"/>
                  </a:lnTo>
                  <a:lnTo>
                    <a:pt x="5890222" y="44737"/>
                  </a:lnTo>
                  <a:lnTo>
                    <a:pt x="5874527" y="21447"/>
                  </a:lnTo>
                  <a:lnTo>
                    <a:pt x="5851237" y="5752"/>
                  </a:lnTo>
                  <a:lnTo>
                    <a:pt x="5822696" y="0"/>
                  </a:lnTo>
                  <a:close/>
                </a:path>
              </a:pathLst>
            </a:custGeom>
            <a:solidFill>
              <a:srgbClr val="E8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943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C71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104001" y="3518217"/>
            <a:ext cx="1441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6059" y="3259680"/>
            <a:ext cx="4802505" cy="82423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400" spc="-10" b="1">
                <a:solidFill>
                  <a:srgbClr val="0A2445"/>
                </a:solidFill>
                <a:latin typeface="Calibri"/>
                <a:cs typeface="Calibri"/>
              </a:rPr>
              <a:t>Request–response</a:t>
            </a:r>
            <a:r>
              <a:rPr dirty="0" sz="1400" spc="-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A2445"/>
                </a:solidFill>
                <a:latin typeface="Calibri"/>
                <a:cs typeface="Calibri"/>
              </a:rPr>
              <a:t>sesaat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Interaksi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bersifat</a:t>
            </a:r>
            <a:r>
              <a:rPr dirty="0" sz="1100" spc="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request-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response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 sesaat,</a:t>
            </a:r>
            <a:r>
              <a:rPr dirty="0" sz="1100" spc="-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bukan</a:t>
            </a:r>
            <a:r>
              <a:rPr dirty="0" sz="1100" spc="-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koneksi</a:t>
            </a:r>
            <a:r>
              <a:rPr dirty="0" sz="1100" spc="-6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persisten/event</a:t>
            </a:r>
            <a:r>
              <a:rPr dirty="0" sz="1100" spc="-5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streaming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—</a:t>
            </a:r>
            <a:r>
              <a:rPr dirty="0" sz="1100" spc="-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REST</a:t>
            </a:r>
            <a:r>
              <a:rPr dirty="0" sz="1100" spc="-5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lebih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sesuai dibanding</a:t>
            </a:r>
            <a:r>
              <a:rPr dirty="0" sz="1100" spc="-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WebSocket</a:t>
            </a:r>
            <a:r>
              <a:rPr dirty="0" sz="1100" spc="-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atau</a:t>
            </a:r>
            <a:r>
              <a:rPr dirty="0" sz="1100" spc="-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MQTT</a:t>
            </a:r>
            <a:r>
              <a:rPr dirty="0" sz="1100" spc="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untuk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use case</a:t>
            </a:r>
            <a:r>
              <a:rPr dirty="0" sz="1100" spc="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5B6B79"/>
                </a:solidFill>
                <a:latin typeface="Calibri"/>
                <a:cs typeface="Calibri"/>
              </a:rPr>
              <a:t>ini.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15000" y="4743450"/>
            <a:ext cx="5895975" cy="1419225"/>
            <a:chOff x="5715000" y="4743450"/>
            <a:chExt cx="5895975" cy="1419225"/>
          </a:xfrm>
        </p:grpSpPr>
        <p:sp>
          <p:nvSpPr>
            <p:cNvPr id="27" name="object 27"/>
            <p:cNvSpPr/>
            <p:nvPr/>
          </p:nvSpPr>
          <p:spPr>
            <a:xfrm>
              <a:off x="5715000" y="4743450"/>
              <a:ext cx="5895975" cy="1419225"/>
            </a:xfrm>
            <a:custGeom>
              <a:avLst/>
              <a:gdLst/>
              <a:ahLst/>
              <a:cxnLst/>
              <a:rect l="l" t="t" r="r" b="b"/>
              <a:pathLst>
                <a:path w="5895975" h="1419225">
                  <a:moveTo>
                    <a:pt x="5822696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9"/>
                  </a:lnTo>
                  <a:lnTo>
                    <a:pt x="0" y="1345971"/>
                  </a:lnTo>
                  <a:lnTo>
                    <a:pt x="5752" y="1374487"/>
                  </a:lnTo>
                  <a:lnTo>
                    <a:pt x="21447" y="1397771"/>
                  </a:lnTo>
                  <a:lnTo>
                    <a:pt x="44737" y="1413469"/>
                  </a:lnTo>
                  <a:lnTo>
                    <a:pt x="73278" y="1419225"/>
                  </a:lnTo>
                  <a:lnTo>
                    <a:pt x="5822696" y="1419225"/>
                  </a:lnTo>
                  <a:lnTo>
                    <a:pt x="5851237" y="1413469"/>
                  </a:lnTo>
                  <a:lnTo>
                    <a:pt x="5874527" y="1397771"/>
                  </a:lnTo>
                  <a:lnTo>
                    <a:pt x="5890222" y="1374487"/>
                  </a:lnTo>
                  <a:lnTo>
                    <a:pt x="5895975" y="1345971"/>
                  </a:lnTo>
                  <a:lnTo>
                    <a:pt x="5895975" y="73279"/>
                  </a:lnTo>
                  <a:lnTo>
                    <a:pt x="5890222" y="44737"/>
                  </a:lnTo>
                  <a:lnTo>
                    <a:pt x="5874527" y="21447"/>
                  </a:lnTo>
                  <a:lnTo>
                    <a:pt x="5851237" y="5752"/>
                  </a:lnTo>
                  <a:lnTo>
                    <a:pt x="5822696" y="0"/>
                  </a:lnTo>
                  <a:close/>
                </a:path>
              </a:pathLst>
            </a:custGeom>
            <a:solidFill>
              <a:srgbClr val="E8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43600" y="50006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C71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104001" y="5093271"/>
            <a:ext cx="1441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76059" y="4836340"/>
            <a:ext cx="4669155" cy="82232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400" spc="-10" b="1">
                <a:solidFill>
                  <a:srgbClr val="0A2445"/>
                </a:solidFill>
                <a:latin typeface="Calibri"/>
                <a:cs typeface="Calibri"/>
              </a:rPr>
              <a:t>Stateless</a:t>
            </a:r>
            <a:r>
              <a:rPr dirty="0" sz="1400" spc="1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A2445"/>
                </a:solidFill>
                <a:latin typeface="Calibri"/>
                <a:cs typeface="Calibri"/>
              </a:rPr>
              <a:t>relevan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13900"/>
              </a:lnSpc>
              <a:spcBef>
                <a:spcPts val="605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Setiap</a:t>
            </a:r>
            <a:r>
              <a:rPr dirty="0" sz="1100" spc="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request</a:t>
            </a:r>
            <a:r>
              <a:rPr dirty="0" sz="1100" spc="-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rate-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limited</a:t>
            </a:r>
            <a:r>
              <a:rPr dirty="0" sz="1100" spc="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dievaluasi</a:t>
            </a:r>
            <a:r>
              <a:rPr dirty="0" sz="1100" spc="-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independen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berdasarkan</a:t>
            </a:r>
            <a:r>
              <a:rPr dirty="0" sz="1100" spc="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window</a:t>
            </a:r>
            <a:r>
              <a:rPr dirty="0" sz="1100" spc="2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waktu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(10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detik),</a:t>
            </a:r>
            <a:r>
              <a:rPr dirty="0" sz="1100" spc="-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bukan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berdasarkan</a:t>
            </a:r>
            <a:r>
              <a:rPr dirty="0" sz="1100" spc="-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sesi</a:t>
            </a:r>
            <a:r>
              <a:rPr dirty="0" sz="1100" spc="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koneksi</a:t>
            </a:r>
            <a:r>
              <a:rPr dirty="0" sz="1100" spc="-6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yang</a:t>
            </a:r>
            <a:r>
              <a:rPr dirty="0" sz="1100" spc="-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terbuka.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9424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3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P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O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Demo</a:t>
            </a:r>
            <a:r>
              <a:rPr dirty="0" spc="-3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Flow</a:t>
            </a:r>
            <a:r>
              <a:rPr dirty="0" spc="-6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70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Infrastruktur </a:t>
            </a:r>
            <a:r>
              <a:rPr dirty="0">
                <a:solidFill>
                  <a:srgbClr val="0A2445"/>
                </a:solidFill>
              </a:rPr>
              <a:t>&amp;</a:t>
            </a:r>
            <a:r>
              <a:rPr dirty="0" spc="-70">
                <a:solidFill>
                  <a:srgbClr val="0A2445"/>
                </a:solidFill>
              </a:rPr>
              <a:t> </a:t>
            </a:r>
            <a:r>
              <a:rPr dirty="0" spc="-35">
                <a:solidFill>
                  <a:srgbClr val="0A2445"/>
                </a:solidFill>
              </a:rPr>
              <a:t>Workflow</a:t>
            </a:r>
            <a:r>
              <a:rPr dirty="0" spc="-90">
                <a:solidFill>
                  <a:srgbClr val="0A2445"/>
                </a:solidFill>
              </a:rPr>
              <a:t> </a:t>
            </a:r>
            <a:r>
              <a:rPr dirty="0" spc="-25">
                <a:solidFill>
                  <a:srgbClr val="0A2445"/>
                </a:solidFill>
              </a:rPr>
              <a:t>n8n</a:t>
            </a:r>
          </a:p>
        </p:txBody>
      </p:sp>
      <p:sp>
        <p:nvSpPr>
          <p:cNvPr id="4" name="object 4"/>
          <p:cNvSpPr/>
          <p:nvPr/>
        </p:nvSpPr>
        <p:spPr>
          <a:xfrm>
            <a:off x="557212" y="1509775"/>
            <a:ext cx="5525135" cy="2743200"/>
          </a:xfrm>
          <a:custGeom>
            <a:avLst/>
            <a:gdLst/>
            <a:ahLst/>
            <a:cxnLst/>
            <a:rect l="l" t="t" r="r" b="b"/>
            <a:pathLst>
              <a:path w="5525135" h="2743200">
                <a:moveTo>
                  <a:pt x="0" y="45720"/>
                </a:moveTo>
                <a:lnTo>
                  <a:pt x="3593" y="27914"/>
                </a:lnTo>
                <a:lnTo>
                  <a:pt x="13393" y="13382"/>
                </a:lnTo>
                <a:lnTo>
                  <a:pt x="27930" y="3589"/>
                </a:lnTo>
                <a:lnTo>
                  <a:pt x="45732" y="0"/>
                </a:lnTo>
                <a:lnTo>
                  <a:pt x="5478716" y="0"/>
                </a:lnTo>
                <a:lnTo>
                  <a:pt x="5496542" y="3589"/>
                </a:lnTo>
                <a:lnTo>
                  <a:pt x="5511117" y="13382"/>
                </a:lnTo>
                <a:lnTo>
                  <a:pt x="5520953" y="27914"/>
                </a:lnTo>
                <a:lnTo>
                  <a:pt x="5524563" y="45720"/>
                </a:lnTo>
                <a:lnTo>
                  <a:pt x="5524563" y="2697353"/>
                </a:lnTo>
                <a:lnTo>
                  <a:pt x="5520953" y="2715158"/>
                </a:lnTo>
                <a:lnTo>
                  <a:pt x="5511117" y="2729690"/>
                </a:lnTo>
                <a:lnTo>
                  <a:pt x="5496542" y="2739483"/>
                </a:lnTo>
                <a:lnTo>
                  <a:pt x="5478716" y="2743073"/>
                </a:lnTo>
                <a:lnTo>
                  <a:pt x="45732" y="2743073"/>
                </a:lnTo>
                <a:lnTo>
                  <a:pt x="27930" y="2739483"/>
                </a:lnTo>
                <a:lnTo>
                  <a:pt x="13393" y="2729690"/>
                </a:lnTo>
                <a:lnTo>
                  <a:pt x="3593" y="2715158"/>
                </a:lnTo>
                <a:lnTo>
                  <a:pt x="0" y="269735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/home/claude/pdfimg/final/g4_1_dock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581150"/>
            <a:ext cx="5391150" cy="230505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7212" y="1509775"/>
          <a:ext cx="5601335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0"/>
              </a:tblGrid>
              <a:tr h="2452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0195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4.1</a:t>
                      </a:r>
                      <a:r>
                        <a:rPr dirty="0" sz="950" spc="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95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Docker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Desktop</a:t>
                      </a:r>
                      <a:r>
                        <a:rPr dirty="0" sz="950" spc="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menjalankan</a:t>
                      </a:r>
                      <a:r>
                        <a:rPr dirty="0" sz="95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n8n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28015" y="5126291"/>
            <a:ext cx="730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▪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015" y="4382770"/>
            <a:ext cx="5273040" cy="92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Docker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Desktop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menjalankan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n8n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sebagai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container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(image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docker.n8n.io/n8nio/n8n:latest)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90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Engine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running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layanan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Docker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aktif,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image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tersedia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dan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siap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dipakai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sebelum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pengujian</a:t>
            </a:r>
            <a:endParaRPr sz="10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70"/>
              </a:spcBef>
            </a:pP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Postman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dimulai</a:t>
            </a:r>
            <a:endParaRPr sz="10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15"/>
              </a:spcBef>
            </a:pP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Pendekatan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container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memberi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lingkungan</a:t>
            </a:r>
            <a:r>
              <a:rPr dirty="0" sz="1050" spc="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stabil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tanpa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instalasi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langsung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ke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OS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10376" y="1509775"/>
            <a:ext cx="5353050" cy="2743200"/>
          </a:xfrm>
          <a:custGeom>
            <a:avLst/>
            <a:gdLst/>
            <a:ahLst/>
            <a:cxnLst/>
            <a:rect l="l" t="t" r="r" b="b"/>
            <a:pathLst>
              <a:path w="5353050" h="2743200">
                <a:moveTo>
                  <a:pt x="0" y="45720"/>
                </a:moveTo>
                <a:lnTo>
                  <a:pt x="3589" y="27914"/>
                </a:lnTo>
                <a:lnTo>
                  <a:pt x="13382" y="13382"/>
                </a:lnTo>
                <a:lnTo>
                  <a:pt x="27914" y="3589"/>
                </a:lnTo>
                <a:lnTo>
                  <a:pt x="45720" y="0"/>
                </a:lnTo>
                <a:lnTo>
                  <a:pt x="5307203" y="0"/>
                </a:lnTo>
                <a:lnTo>
                  <a:pt x="5325028" y="3589"/>
                </a:lnTo>
                <a:lnTo>
                  <a:pt x="5339603" y="13382"/>
                </a:lnTo>
                <a:lnTo>
                  <a:pt x="5349440" y="27914"/>
                </a:lnTo>
                <a:lnTo>
                  <a:pt x="5353050" y="45720"/>
                </a:lnTo>
                <a:lnTo>
                  <a:pt x="5353050" y="2697353"/>
                </a:lnTo>
                <a:lnTo>
                  <a:pt x="5349440" y="2715158"/>
                </a:lnTo>
                <a:lnTo>
                  <a:pt x="5339603" y="2729690"/>
                </a:lnTo>
                <a:lnTo>
                  <a:pt x="5325028" y="2739483"/>
                </a:lnTo>
                <a:lnTo>
                  <a:pt x="5307203" y="2743073"/>
                </a:lnTo>
                <a:lnTo>
                  <a:pt x="45720" y="2743073"/>
                </a:lnTo>
                <a:lnTo>
                  <a:pt x="27914" y="2739483"/>
                </a:lnTo>
                <a:lnTo>
                  <a:pt x="13382" y="2729690"/>
                </a:lnTo>
                <a:lnTo>
                  <a:pt x="3589" y="2715158"/>
                </a:lnTo>
                <a:lnTo>
                  <a:pt x="0" y="269735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/home/claude/pdfimg/final/g4_2_n8n_workflow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0" y="1581150"/>
            <a:ext cx="5195634" cy="2305050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310376" y="1509775"/>
          <a:ext cx="5429250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3050"/>
              </a:tblGrid>
              <a:tr h="2452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01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4.2 —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Workflow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Automation</a:t>
                      </a:r>
                      <a:r>
                        <a:rPr dirty="0" sz="95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n8n</a:t>
                      </a:r>
                      <a:r>
                        <a:rPr dirty="0" sz="95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(5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node)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solidFill>
                      <a:srgbClr val="F4A200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3179" y="4850129"/>
            <a:ext cx="730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▪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3179" y="4362181"/>
            <a:ext cx="5094605" cy="85471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60"/>
              </a:spcBef>
              <a:buChar char="▪"/>
              <a:tabLst>
                <a:tab pos="354965" algn="l"/>
              </a:tabLst>
            </a:pP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Webhook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Trigger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-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Normalize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 →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Call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Reliability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API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(HTTP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GET)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 Check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Status</a:t>
            </a:r>
            <a:endParaRPr sz="10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Code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&lt;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400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(decision)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Build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Response</a:t>
            </a:r>
            <a:endParaRPr sz="1050">
              <a:latin typeface="Calibri"/>
              <a:cs typeface="Calibri"/>
            </a:endParaRPr>
          </a:p>
          <a:p>
            <a:pPr marL="355600" marR="260985">
              <a:lnSpc>
                <a:spcPct val="113300"/>
              </a:lnSpc>
              <a:spcBef>
                <a:spcPts val="830"/>
              </a:spcBef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Riwayat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Execution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kiri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panel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semuanya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berstatus</a:t>
            </a:r>
            <a:r>
              <a:rPr dirty="0" sz="1050" spc="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Succeeded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workflow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berjalan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konsisten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 &amp;</a:t>
            </a:r>
            <a:r>
              <a:rPr dirty="0" sz="1050" spc="7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reproducible</a:t>
            </a:r>
            <a:r>
              <a:rPr dirty="0" sz="1050" spc="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(contoh: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35ms, 89ms,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54ms)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9424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3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P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O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Demo</a:t>
            </a:r>
            <a:r>
              <a:rPr dirty="0" spc="-4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Flow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85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Pengujian</a:t>
            </a:r>
            <a:r>
              <a:rPr dirty="0" spc="-70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Webhook</a:t>
            </a:r>
            <a:r>
              <a:rPr dirty="0" spc="-3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n8n</a:t>
            </a:r>
            <a:r>
              <a:rPr dirty="0" spc="-7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via</a:t>
            </a:r>
            <a:r>
              <a:rPr dirty="0" spc="-90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Postman</a:t>
            </a:r>
          </a:p>
        </p:txBody>
      </p:sp>
      <p:sp>
        <p:nvSpPr>
          <p:cNvPr id="4" name="object 4"/>
          <p:cNvSpPr/>
          <p:nvPr/>
        </p:nvSpPr>
        <p:spPr>
          <a:xfrm>
            <a:off x="557212" y="1509775"/>
            <a:ext cx="5944235" cy="4533900"/>
          </a:xfrm>
          <a:custGeom>
            <a:avLst/>
            <a:gdLst/>
            <a:ahLst/>
            <a:cxnLst/>
            <a:rect l="l" t="t" r="r" b="b"/>
            <a:pathLst>
              <a:path w="5944235" h="4533900">
                <a:moveTo>
                  <a:pt x="0" y="45720"/>
                </a:moveTo>
                <a:lnTo>
                  <a:pt x="3598" y="27914"/>
                </a:lnTo>
                <a:lnTo>
                  <a:pt x="13411" y="13382"/>
                </a:lnTo>
                <a:lnTo>
                  <a:pt x="27967" y="3589"/>
                </a:lnTo>
                <a:lnTo>
                  <a:pt x="45796" y="0"/>
                </a:lnTo>
                <a:lnTo>
                  <a:pt x="5897816" y="0"/>
                </a:lnTo>
                <a:lnTo>
                  <a:pt x="5915642" y="3589"/>
                </a:lnTo>
                <a:lnTo>
                  <a:pt x="5930217" y="13382"/>
                </a:lnTo>
                <a:lnTo>
                  <a:pt x="5940053" y="27914"/>
                </a:lnTo>
                <a:lnTo>
                  <a:pt x="5943663" y="45720"/>
                </a:lnTo>
                <a:lnTo>
                  <a:pt x="5943663" y="4488040"/>
                </a:lnTo>
                <a:lnTo>
                  <a:pt x="5940053" y="4505868"/>
                </a:lnTo>
                <a:lnTo>
                  <a:pt x="5930217" y="4520425"/>
                </a:lnTo>
                <a:lnTo>
                  <a:pt x="5915642" y="4530238"/>
                </a:lnTo>
                <a:lnTo>
                  <a:pt x="5897816" y="4533836"/>
                </a:lnTo>
                <a:lnTo>
                  <a:pt x="45796" y="4533836"/>
                </a:lnTo>
                <a:lnTo>
                  <a:pt x="27967" y="4530238"/>
                </a:lnTo>
                <a:lnTo>
                  <a:pt x="13411" y="4520425"/>
                </a:lnTo>
                <a:lnTo>
                  <a:pt x="3598" y="4505868"/>
                </a:lnTo>
                <a:lnTo>
                  <a:pt x="0" y="4488040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/home/claude/pdfimg/final/g4_3_postman_webhook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581150"/>
            <a:ext cx="5800725" cy="407020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7212" y="1509775"/>
          <a:ext cx="6020435" cy="4533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0"/>
              </a:tblGrid>
              <a:tr h="423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4.3</a:t>
                      </a:r>
                      <a:r>
                        <a:rPr dirty="0" sz="95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Pengujian</a:t>
                      </a:r>
                      <a:r>
                        <a:rPr dirty="0" sz="95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Webhook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n8n</a:t>
                      </a:r>
                      <a:r>
                        <a:rPr dirty="0" sz="95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menggunakan</a:t>
                      </a:r>
                      <a:r>
                        <a:rPr dirty="0" sz="95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Postman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6762750" y="1504950"/>
            <a:ext cx="4895850" cy="4533900"/>
            <a:chOff x="6762750" y="1504950"/>
            <a:chExt cx="4895850" cy="4533900"/>
          </a:xfrm>
        </p:grpSpPr>
        <p:sp>
          <p:nvSpPr>
            <p:cNvPr id="8" name="object 8"/>
            <p:cNvSpPr/>
            <p:nvPr/>
          </p:nvSpPr>
          <p:spPr>
            <a:xfrm>
              <a:off x="6762750" y="1504950"/>
              <a:ext cx="4895850" cy="4533900"/>
            </a:xfrm>
            <a:custGeom>
              <a:avLst/>
              <a:gdLst/>
              <a:ahLst/>
              <a:cxnLst/>
              <a:rect l="l" t="t" r="r" b="b"/>
              <a:pathLst>
                <a:path w="4895850" h="4533900">
                  <a:moveTo>
                    <a:pt x="4822571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8"/>
                  </a:lnTo>
                  <a:lnTo>
                    <a:pt x="0" y="4460633"/>
                  </a:lnTo>
                  <a:lnTo>
                    <a:pt x="5752" y="4489151"/>
                  </a:lnTo>
                  <a:lnTo>
                    <a:pt x="21447" y="4512440"/>
                  </a:lnTo>
                  <a:lnTo>
                    <a:pt x="44737" y="4528142"/>
                  </a:lnTo>
                  <a:lnTo>
                    <a:pt x="73278" y="4533900"/>
                  </a:lnTo>
                  <a:lnTo>
                    <a:pt x="4822571" y="4533900"/>
                  </a:lnTo>
                  <a:lnTo>
                    <a:pt x="4851112" y="4528142"/>
                  </a:lnTo>
                  <a:lnTo>
                    <a:pt x="4874402" y="4512440"/>
                  </a:lnTo>
                  <a:lnTo>
                    <a:pt x="4890097" y="4489151"/>
                  </a:lnTo>
                  <a:lnTo>
                    <a:pt x="4895850" y="4460633"/>
                  </a:lnTo>
                  <a:lnTo>
                    <a:pt x="4895850" y="73278"/>
                  </a:lnTo>
                  <a:lnTo>
                    <a:pt x="4890097" y="44737"/>
                  </a:lnTo>
                  <a:lnTo>
                    <a:pt x="4874402" y="21447"/>
                  </a:lnTo>
                  <a:lnTo>
                    <a:pt x="4851112" y="5752"/>
                  </a:lnTo>
                  <a:lnTo>
                    <a:pt x="4822571" y="0"/>
                  </a:lnTo>
                  <a:close/>
                </a:path>
              </a:pathLst>
            </a:custGeom>
            <a:solidFill>
              <a:srgbClr val="E8F0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10675" y="4248086"/>
              <a:ext cx="357187" cy="3095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4150" y="4248086"/>
              <a:ext cx="357187" cy="3095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0875" y="4248086"/>
              <a:ext cx="357187" cy="30956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079233" y="1724977"/>
            <a:ext cx="4309745" cy="29521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65" b="1">
                <a:solidFill>
                  <a:srgbClr val="1C7192"/>
                </a:solidFill>
                <a:latin typeface="Calibri"/>
                <a:cs typeface="Calibri"/>
              </a:rPr>
              <a:t>HAS</a:t>
            </a:r>
            <a:r>
              <a:rPr dirty="0" sz="11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7192"/>
                </a:solidFill>
                <a:latin typeface="Calibri"/>
                <a:cs typeface="Calibri"/>
              </a:rPr>
              <a:t>IL</a:t>
            </a:r>
            <a:r>
              <a:rPr dirty="0" sz="1100" spc="34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7192"/>
                </a:solidFill>
                <a:latin typeface="Calibri"/>
                <a:cs typeface="Calibri"/>
              </a:rPr>
              <a:t>P</a:t>
            </a:r>
            <a:r>
              <a:rPr dirty="0" sz="1100" spc="-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7192"/>
                </a:solidFill>
                <a:latin typeface="Calibri"/>
                <a:cs typeface="Calibri"/>
              </a:rPr>
              <a:t>EN</a:t>
            </a:r>
            <a:r>
              <a:rPr dirty="0" sz="1100" spc="-6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spc="80" b="1">
                <a:solidFill>
                  <a:srgbClr val="1C7192"/>
                </a:solidFill>
                <a:latin typeface="Calibri"/>
                <a:cs typeface="Calibri"/>
              </a:rPr>
              <a:t>GUJIAN</a:t>
            </a:r>
            <a:endParaRPr sz="1100">
              <a:latin typeface="Calibri"/>
              <a:cs typeface="Calibri"/>
            </a:endParaRPr>
          </a:p>
          <a:p>
            <a:pPr marL="355600" marR="521334" indent="-343535">
              <a:lnSpc>
                <a:spcPct val="119500"/>
              </a:lnSpc>
              <a:spcBef>
                <a:spcPts val="1040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Status</a:t>
            </a:r>
            <a:r>
              <a:rPr dirty="0" sz="110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HTTP</a:t>
            </a:r>
            <a:r>
              <a:rPr dirty="0" sz="1100" spc="-8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200</a:t>
            </a:r>
            <a:r>
              <a:rPr dirty="0" sz="110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OK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r>
              <a:rPr dirty="0" sz="110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10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diproses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workflow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n8n</a:t>
            </a:r>
            <a:r>
              <a:rPr dirty="0" sz="110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tanpa kesalahan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A2445"/>
              </a:buClr>
              <a:buFont typeface="Calibri"/>
              <a:buChar char="▪"/>
            </a:pPr>
            <a:endParaRPr sz="1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▪"/>
              <a:tabLst>
                <a:tab pos="355600" algn="l"/>
              </a:tabLst>
            </a:pP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workflowResult:</a:t>
            </a:r>
            <a:r>
              <a:rPr dirty="0" sz="1100" spc="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SUCCESS,</a:t>
            </a:r>
            <a:r>
              <a:rPr dirty="0" sz="1100" spc="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workflowBranch:</a:t>
            </a:r>
            <a:r>
              <a:rPr dirty="0" sz="1100" spc="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TRUE_BRANCH_SUCCESS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4"/>
              </a:spcBef>
            </a:pP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decision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node</a:t>
            </a:r>
            <a:r>
              <a:rPr dirty="0" sz="110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mengeksekusi</a:t>
            </a:r>
            <a:r>
              <a:rPr dirty="0" sz="110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node</a:t>
            </a:r>
            <a:r>
              <a:rPr dirty="0" sz="110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Build</a:t>
            </a:r>
            <a:r>
              <a:rPr dirty="0" sz="110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Success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Response</a:t>
            </a:r>
            <a:endParaRPr sz="1100">
              <a:latin typeface="Calibri"/>
              <a:cs typeface="Calibri"/>
            </a:endParaRPr>
          </a:p>
          <a:p>
            <a:pPr marL="355600" marR="371475" indent="-343535">
              <a:lnSpc>
                <a:spcPct val="119500"/>
              </a:lnSpc>
              <a:spcBef>
                <a:spcPts val="1200"/>
              </a:spcBef>
              <a:buChar char="▪"/>
              <a:tabLst>
                <a:tab pos="355600" algn="l"/>
              </a:tabLst>
            </a:pP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backendStatusCode:</a:t>
            </a:r>
            <a:r>
              <a:rPr dirty="0" sz="1100" spc="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200</a:t>
            </a:r>
            <a:r>
              <a:rPr dirty="0" sz="110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dengan pesan</a:t>
            </a:r>
            <a:r>
              <a:rPr dirty="0" sz="110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'Request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accepted'</a:t>
            </a:r>
            <a:r>
              <a:rPr dirty="0" sz="110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A2445"/>
                </a:solidFill>
                <a:latin typeface="Calibri"/>
                <a:cs typeface="Calibri"/>
              </a:rPr>
              <a:t>dari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Reliability 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API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0A2445"/>
              </a:buClr>
              <a:buFont typeface="Calibri"/>
              <a:buChar char="▪"/>
            </a:pPr>
            <a:endParaRPr sz="1100">
              <a:latin typeface="Calibri"/>
              <a:cs typeface="Calibri"/>
            </a:endParaRPr>
          </a:p>
          <a:p>
            <a:pPr algn="r" marL="342900" marR="82550" indent="-342900">
              <a:lnSpc>
                <a:spcPct val="100000"/>
              </a:lnSpc>
              <a:buChar char="▪"/>
              <a:tabLst>
                <a:tab pos="342900" algn="l"/>
              </a:tabLst>
            </a:pP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Field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remaining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&amp;</a:t>
            </a:r>
            <a:r>
              <a:rPr dirty="0" sz="110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limit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ikut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diteruskan</a:t>
            </a:r>
            <a:r>
              <a:rPr dirty="0" sz="1100" spc="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menunjukkan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 konteks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A2445"/>
                </a:solidFill>
                <a:latin typeface="Calibri"/>
                <a:cs typeface="Calibri"/>
              </a:rPr>
              <a:t>rate</a:t>
            </a:r>
            <a:endParaRPr sz="1100">
              <a:latin typeface="Calibri"/>
              <a:cs typeface="Calibri"/>
            </a:endParaRPr>
          </a:p>
          <a:p>
            <a:pPr algn="r" marR="62865">
              <a:lnSpc>
                <a:spcPct val="100000"/>
              </a:lnSpc>
              <a:spcBef>
                <a:spcPts val="254"/>
              </a:spcBef>
            </a:pP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limiting</a:t>
            </a:r>
            <a:r>
              <a:rPr dirty="0" sz="110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tetap</a:t>
            </a:r>
            <a:r>
              <a:rPr dirty="0" sz="110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transparan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 ke</a:t>
            </a:r>
            <a:r>
              <a:rPr dirty="0" sz="110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client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meski</a:t>
            </a:r>
            <a:r>
              <a:rPr dirty="0" sz="110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melewati</a:t>
            </a:r>
            <a:r>
              <a:rPr dirty="0" sz="1100" spc="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orchestration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n8n</a:t>
            </a:r>
            <a:endParaRPr sz="1100">
              <a:latin typeface="Calibri"/>
              <a:cs typeface="Calibri"/>
            </a:endParaRPr>
          </a:p>
          <a:p>
            <a:pPr marL="355600" marR="505459" indent="-343535">
              <a:lnSpc>
                <a:spcPct val="119500"/>
              </a:lnSpc>
              <a:spcBef>
                <a:spcPts val="1200"/>
              </a:spcBef>
              <a:buChar char="▪"/>
              <a:tabLst>
                <a:tab pos="355600" algn="l"/>
                <a:tab pos="2436495" algn="l"/>
                <a:tab pos="3577590" algn="l"/>
              </a:tabLst>
            </a:pP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Membuktikan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integrasi</a:t>
            </a:r>
            <a:r>
              <a:rPr dirty="0" sz="1100" spc="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Postman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	Docker</a:t>
            </a:r>
            <a:r>
              <a:rPr dirty="0" sz="110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Desktop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	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n8n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Reliability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445"/>
                </a:solidFill>
                <a:latin typeface="Calibri"/>
                <a:cs typeface="Calibri"/>
              </a:rPr>
              <a:t>API berjalan</a:t>
            </a:r>
            <a:r>
              <a:rPr dirty="0" sz="1100" spc="-10">
                <a:solidFill>
                  <a:srgbClr val="0A2445"/>
                </a:solidFill>
                <a:latin typeface="Calibri"/>
                <a:cs typeface="Calibri"/>
              </a:rPr>
              <a:t> end-to-</a:t>
            </a:r>
            <a:r>
              <a:rPr dirty="0" sz="1100" spc="-25">
                <a:solidFill>
                  <a:srgbClr val="0A2445"/>
                </a:solidFill>
                <a:latin typeface="Calibri"/>
                <a:cs typeface="Calibri"/>
              </a:rPr>
              <a:t>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07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9424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3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P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M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O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Endpoint</a:t>
            </a:r>
            <a:r>
              <a:rPr dirty="0" spc="-9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/</a:t>
            </a:r>
            <a:r>
              <a:rPr dirty="0" spc="-6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Action</a:t>
            </a:r>
            <a:r>
              <a:rPr dirty="0" spc="-45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Design</a:t>
            </a:r>
          </a:p>
        </p:txBody>
      </p:sp>
      <p:sp>
        <p:nvSpPr>
          <p:cNvPr id="4" name="object 4"/>
          <p:cNvSpPr/>
          <p:nvPr/>
        </p:nvSpPr>
        <p:spPr>
          <a:xfrm>
            <a:off x="657225" y="2295525"/>
            <a:ext cx="733425" cy="304800"/>
          </a:xfrm>
          <a:custGeom>
            <a:avLst/>
            <a:gdLst/>
            <a:ahLst/>
            <a:cxnLst/>
            <a:rect l="l" t="t" r="r" b="b"/>
            <a:pathLst>
              <a:path w="733425" h="304800">
                <a:moveTo>
                  <a:pt x="585647" y="0"/>
                </a:moveTo>
                <a:lnTo>
                  <a:pt x="147777" y="0"/>
                </a:lnTo>
                <a:lnTo>
                  <a:pt x="101070" y="7534"/>
                </a:lnTo>
                <a:lnTo>
                  <a:pt x="60504" y="28517"/>
                </a:lnTo>
                <a:lnTo>
                  <a:pt x="28513" y="60514"/>
                </a:lnTo>
                <a:lnTo>
                  <a:pt x="7534" y="101096"/>
                </a:lnTo>
                <a:lnTo>
                  <a:pt x="0" y="147827"/>
                </a:lnTo>
                <a:lnTo>
                  <a:pt x="0" y="156972"/>
                </a:lnTo>
                <a:lnTo>
                  <a:pt x="7534" y="203703"/>
                </a:lnTo>
                <a:lnTo>
                  <a:pt x="28513" y="244285"/>
                </a:lnTo>
                <a:lnTo>
                  <a:pt x="60504" y="276282"/>
                </a:lnTo>
                <a:lnTo>
                  <a:pt x="101070" y="297265"/>
                </a:lnTo>
                <a:lnTo>
                  <a:pt x="147777" y="304800"/>
                </a:lnTo>
                <a:lnTo>
                  <a:pt x="585647" y="304800"/>
                </a:lnTo>
                <a:lnTo>
                  <a:pt x="632354" y="297265"/>
                </a:lnTo>
                <a:lnTo>
                  <a:pt x="672920" y="276282"/>
                </a:lnTo>
                <a:lnTo>
                  <a:pt x="704911" y="244285"/>
                </a:lnTo>
                <a:lnTo>
                  <a:pt x="725890" y="203703"/>
                </a:lnTo>
                <a:lnTo>
                  <a:pt x="733425" y="156972"/>
                </a:lnTo>
                <a:lnTo>
                  <a:pt x="733425" y="147827"/>
                </a:lnTo>
                <a:lnTo>
                  <a:pt x="725890" y="101096"/>
                </a:lnTo>
                <a:lnTo>
                  <a:pt x="704911" y="60514"/>
                </a:lnTo>
                <a:lnTo>
                  <a:pt x="672920" y="28517"/>
                </a:lnTo>
                <a:lnTo>
                  <a:pt x="632354" y="7534"/>
                </a:lnTo>
                <a:lnTo>
                  <a:pt x="585647" y="0"/>
                </a:lnTo>
                <a:close/>
              </a:path>
            </a:pathLst>
          </a:custGeom>
          <a:solidFill>
            <a:srgbClr val="1C719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52450" y="2695575"/>
            <a:ext cx="11010900" cy="504825"/>
            <a:chOff x="552450" y="2695575"/>
            <a:chExt cx="11010900" cy="504825"/>
          </a:xfrm>
        </p:grpSpPr>
        <p:sp>
          <p:nvSpPr>
            <p:cNvPr id="6" name="object 6"/>
            <p:cNvSpPr/>
            <p:nvPr/>
          </p:nvSpPr>
          <p:spPr>
            <a:xfrm>
              <a:off x="552450" y="2695575"/>
              <a:ext cx="11010900" cy="504825"/>
            </a:xfrm>
            <a:custGeom>
              <a:avLst/>
              <a:gdLst/>
              <a:ahLst/>
              <a:cxnLst/>
              <a:rect l="l" t="t" r="r" b="b"/>
              <a:pathLst>
                <a:path w="11010900" h="504825">
                  <a:moveTo>
                    <a:pt x="11010900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11010900" y="504825"/>
                  </a:lnTo>
                  <a:lnTo>
                    <a:pt x="11010900" y="0"/>
                  </a:lnTo>
                  <a:close/>
                </a:path>
              </a:pathLst>
            </a:custGeom>
            <a:solidFill>
              <a:srgbClr val="E8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7225" y="2800350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590257" y="0"/>
                  </a:moveTo>
                  <a:lnTo>
                    <a:pt x="143167" y="0"/>
                  </a:lnTo>
                  <a:lnTo>
                    <a:pt x="97914" y="7301"/>
                  </a:lnTo>
                  <a:lnTo>
                    <a:pt x="58613" y="27631"/>
                  </a:lnTo>
                  <a:lnTo>
                    <a:pt x="27622" y="58622"/>
                  </a:lnTo>
                  <a:lnTo>
                    <a:pt x="7298" y="97909"/>
                  </a:lnTo>
                  <a:lnTo>
                    <a:pt x="0" y="143128"/>
                  </a:lnTo>
                  <a:lnTo>
                    <a:pt x="0" y="152146"/>
                  </a:lnTo>
                  <a:lnTo>
                    <a:pt x="7298" y="197365"/>
                  </a:lnTo>
                  <a:lnTo>
                    <a:pt x="27622" y="236652"/>
                  </a:lnTo>
                  <a:lnTo>
                    <a:pt x="58613" y="267643"/>
                  </a:lnTo>
                  <a:lnTo>
                    <a:pt x="97914" y="287973"/>
                  </a:lnTo>
                  <a:lnTo>
                    <a:pt x="143167" y="295275"/>
                  </a:lnTo>
                  <a:lnTo>
                    <a:pt x="590257" y="295275"/>
                  </a:lnTo>
                  <a:lnTo>
                    <a:pt x="635495" y="287973"/>
                  </a:lnTo>
                  <a:lnTo>
                    <a:pt x="674794" y="267643"/>
                  </a:lnTo>
                  <a:lnTo>
                    <a:pt x="705791" y="236652"/>
                  </a:lnTo>
                  <a:lnTo>
                    <a:pt x="726122" y="197365"/>
                  </a:lnTo>
                  <a:lnTo>
                    <a:pt x="733425" y="152146"/>
                  </a:lnTo>
                  <a:lnTo>
                    <a:pt x="733425" y="143128"/>
                  </a:lnTo>
                  <a:lnTo>
                    <a:pt x="726122" y="97909"/>
                  </a:lnTo>
                  <a:lnTo>
                    <a:pt x="705791" y="58622"/>
                  </a:lnTo>
                  <a:lnTo>
                    <a:pt x="674794" y="27631"/>
                  </a:lnTo>
                  <a:lnTo>
                    <a:pt x="635495" y="7301"/>
                  </a:lnTo>
                  <a:lnTo>
                    <a:pt x="590257" y="0"/>
                  </a:lnTo>
                  <a:close/>
                </a:path>
              </a:pathLst>
            </a:custGeom>
            <a:solidFill>
              <a:srgbClr val="1C71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657225" y="3305175"/>
            <a:ext cx="733425" cy="295275"/>
          </a:xfrm>
          <a:custGeom>
            <a:avLst/>
            <a:gdLst/>
            <a:ahLst/>
            <a:cxnLst/>
            <a:rect l="l" t="t" r="r" b="b"/>
            <a:pathLst>
              <a:path w="733425" h="295275">
                <a:moveTo>
                  <a:pt x="590257" y="0"/>
                </a:moveTo>
                <a:lnTo>
                  <a:pt x="143167" y="0"/>
                </a:lnTo>
                <a:lnTo>
                  <a:pt x="97914" y="7301"/>
                </a:lnTo>
                <a:lnTo>
                  <a:pt x="58613" y="27631"/>
                </a:lnTo>
                <a:lnTo>
                  <a:pt x="27622" y="58622"/>
                </a:lnTo>
                <a:lnTo>
                  <a:pt x="7298" y="97909"/>
                </a:lnTo>
                <a:lnTo>
                  <a:pt x="0" y="143128"/>
                </a:lnTo>
                <a:lnTo>
                  <a:pt x="0" y="152146"/>
                </a:lnTo>
                <a:lnTo>
                  <a:pt x="7298" y="197365"/>
                </a:lnTo>
                <a:lnTo>
                  <a:pt x="27622" y="236652"/>
                </a:lnTo>
                <a:lnTo>
                  <a:pt x="58613" y="267643"/>
                </a:lnTo>
                <a:lnTo>
                  <a:pt x="97914" y="287973"/>
                </a:lnTo>
                <a:lnTo>
                  <a:pt x="143167" y="295275"/>
                </a:lnTo>
                <a:lnTo>
                  <a:pt x="590257" y="295275"/>
                </a:lnTo>
                <a:lnTo>
                  <a:pt x="635495" y="287973"/>
                </a:lnTo>
                <a:lnTo>
                  <a:pt x="674794" y="267643"/>
                </a:lnTo>
                <a:lnTo>
                  <a:pt x="705791" y="236652"/>
                </a:lnTo>
                <a:lnTo>
                  <a:pt x="726122" y="197365"/>
                </a:lnTo>
                <a:lnTo>
                  <a:pt x="733425" y="152146"/>
                </a:lnTo>
                <a:lnTo>
                  <a:pt x="733425" y="143128"/>
                </a:lnTo>
                <a:lnTo>
                  <a:pt x="726122" y="97909"/>
                </a:lnTo>
                <a:lnTo>
                  <a:pt x="705791" y="58622"/>
                </a:lnTo>
                <a:lnTo>
                  <a:pt x="674794" y="27631"/>
                </a:lnTo>
                <a:lnTo>
                  <a:pt x="635495" y="7301"/>
                </a:lnTo>
                <a:lnTo>
                  <a:pt x="590257" y="0"/>
                </a:lnTo>
                <a:close/>
              </a:path>
            </a:pathLst>
          </a:custGeom>
          <a:solidFill>
            <a:srgbClr val="05D59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552450" y="3705225"/>
            <a:ext cx="11010900" cy="504825"/>
            <a:chOff x="552450" y="3705225"/>
            <a:chExt cx="11010900" cy="504825"/>
          </a:xfrm>
        </p:grpSpPr>
        <p:sp>
          <p:nvSpPr>
            <p:cNvPr id="10" name="object 10"/>
            <p:cNvSpPr/>
            <p:nvPr/>
          </p:nvSpPr>
          <p:spPr>
            <a:xfrm>
              <a:off x="552450" y="3705225"/>
              <a:ext cx="11010900" cy="504825"/>
            </a:xfrm>
            <a:custGeom>
              <a:avLst/>
              <a:gdLst/>
              <a:ahLst/>
              <a:cxnLst/>
              <a:rect l="l" t="t" r="r" b="b"/>
              <a:pathLst>
                <a:path w="11010900" h="504825">
                  <a:moveTo>
                    <a:pt x="11010900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11010900" y="504825"/>
                  </a:lnTo>
                  <a:lnTo>
                    <a:pt x="11010900" y="0"/>
                  </a:lnTo>
                  <a:close/>
                </a:path>
              </a:pathLst>
            </a:custGeom>
            <a:solidFill>
              <a:srgbClr val="E8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7225" y="3800475"/>
              <a:ext cx="733425" cy="304800"/>
            </a:xfrm>
            <a:custGeom>
              <a:avLst/>
              <a:gdLst/>
              <a:ahLst/>
              <a:cxnLst/>
              <a:rect l="l" t="t" r="r" b="b"/>
              <a:pathLst>
                <a:path w="733425" h="304800">
                  <a:moveTo>
                    <a:pt x="585647" y="0"/>
                  </a:moveTo>
                  <a:lnTo>
                    <a:pt x="147777" y="0"/>
                  </a:lnTo>
                  <a:lnTo>
                    <a:pt x="101070" y="7534"/>
                  </a:lnTo>
                  <a:lnTo>
                    <a:pt x="60504" y="28517"/>
                  </a:lnTo>
                  <a:lnTo>
                    <a:pt x="28513" y="60514"/>
                  </a:lnTo>
                  <a:lnTo>
                    <a:pt x="7534" y="101096"/>
                  </a:lnTo>
                  <a:lnTo>
                    <a:pt x="0" y="147827"/>
                  </a:lnTo>
                  <a:lnTo>
                    <a:pt x="0" y="156972"/>
                  </a:lnTo>
                  <a:lnTo>
                    <a:pt x="7534" y="203703"/>
                  </a:lnTo>
                  <a:lnTo>
                    <a:pt x="28513" y="244285"/>
                  </a:lnTo>
                  <a:lnTo>
                    <a:pt x="60504" y="276282"/>
                  </a:lnTo>
                  <a:lnTo>
                    <a:pt x="101070" y="297265"/>
                  </a:lnTo>
                  <a:lnTo>
                    <a:pt x="147777" y="304800"/>
                  </a:lnTo>
                  <a:lnTo>
                    <a:pt x="585647" y="304800"/>
                  </a:lnTo>
                  <a:lnTo>
                    <a:pt x="632354" y="297265"/>
                  </a:lnTo>
                  <a:lnTo>
                    <a:pt x="672920" y="276282"/>
                  </a:lnTo>
                  <a:lnTo>
                    <a:pt x="704911" y="244285"/>
                  </a:lnTo>
                  <a:lnTo>
                    <a:pt x="725890" y="203703"/>
                  </a:lnTo>
                  <a:lnTo>
                    <a:pt x="733425" y="156972"/>
                  </a:lnTo>
                  <a:lnTo>
                    <a:pt x="733425" y="147827"/>
                  </a:lnTo>
                  <a:lnTo>
                    <a:pt x="725890" y="101096"/>
                  </a:lnTo>
                  <a:lnTo>
                    <a:pt x="704911" y="60514"/>
                  </a:lnTo>
                  <a:lnTo>
                    <a:pt x="672920" y="28517"/>
                  </a:lnTo>
                  <a:lnTo>
                    <a:pt x="632354" y="7534"/>
                  </a:lnTo>
                  <a:lnTo>
                    <a:pt x="585647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657225" y="4305300"/>
            <a:ext cx="733425" cy="304800"/>
          </a:xfrm>
          <a:custGeom>
            <a:avLst/>
            <a:gdLst/>
            <a:ahLst/>
            <a:cxnLst/>
            <a:rect l="l" t="t" r="r" b="b"/>
            <a:pathLst>
              <a:path w="733425" h="304800">
                <a:moveTo>
                  <a:pt x="585647" y="0"/>
                </a:moveTo>
                <a:lnTo>
                  <a:pt x="147777" y="0"/>
                </a:lnTo>
                <a:lnTo>
                  <a:pt x="101070" y="7534"/>
                </a:lnTo>
                <a:lnTo>
                  <a:pt x="60504" y="28517"/>
                </a:lnTo>
                <a:lnTo>
                  <a:pt x="28513" y="60514"/>
                </a:lnTo>
                <a:lnTo>
                  <a:pt x="7534" y="101096"/>
                </a:lnTo>
                <a:lnTo>
                  <a:pt x="0" y="147827"/>
                </a:lnTo>
                <a:lnTo>
                  <a:pt x="0" y="156972"/>
                </a:lnTo>
                <a:lnTo>
                  <a:pt x="7534" y="203703"/>
                </a:lnTo>
                <a:lnTo>
                  <a:pt x="28513" y="244285"/>
                </a:lnTo>
                <a:lnTo>
                  <a:pt x="60504" y="276282"/>
                </a:lnTo>
                <a:lnTo>
                  <a:pt x="101070" y="297265"/>
                </a:lnTo>
                <a:lnTo>
                  <a:pt x="147777" y="304800"/>
                </a:lnTo>
                <a:lnTo>
                  <a:pt x="585647" y="304800"/>
                </a:lnTo>
                <a:lnTo>
                  <a:pt x="632354" y="297265"/>
                </a:lnTo>
                <a:lnTo>
                  <a:pt x="672920" y="276282"/>
                </a:lnTo>
                <a:lnTo>
                  <a:pt x="704911" y="244285"/>
                </a:lnTo>
                <a:lnTo>
                  <a:pt x="725890" y="203703"/>
                </a:lnTo>
                <a:lnTo>
                  <a:pt x="733425" y="156972"/>
                </a:lnTo>
                <a:lnTo>
                  <a:pt x="733425" y="147827"/>
                </a:lnTo>
                <a:lnTo>
                  <a:pt x="725890" y="101096"/>
                </a:lnTo>
                <a:lnTo>
                  <a:pt x="704911" y="60514"/>
                </a:lnTo>
                <a:lnTo>
                  <a:pt x="672920" y="28517"/>
                </a:lnTo>
                <a:lnTo>
                  <a:pt x="632354" y="7534"/>
                </a:lnTo>
                <a:lnTo>
                  <a:pt x="585647" y="0"/>
                </a:lnTo>
                <a:close/>
              </a:path>
            </a:pathLst>
          </a:custGeom>
          <a:solidFill>
            <a:srgbClr val="05D59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52450" y="1695450"/>
          <a:ext cx="11087100" cy="2852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2175"/>
                <a:gridCol w="3426460"/>
                <a:gridCol w="4267199"/>
                <a:gridCol w="2426334"/>
              </a:tblGrid>
              <a:tr h="495300">
                <a:tc>
                  <a:txBody>
                    <a:bodyPr/>
                    <a:lstStyle/>
                    <a:p>
                      <a:pPr algn="r" marR="29146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solidFill>
                      <a:srgbClr val="0A2445"/>
                    </a:solidFill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solidFill>
                      <a:srgbClr val="0A2445"/>
                    </a:solidFill>
                  </a:tcPr>
                </a:tc>
                <a:tc>
                  <a:txBody>
                    <a:bodyPr/>
                    <a:lstStyle/>
                    <a:p>
                      <a:pPr marL="77533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1100" spc="1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Body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solidFill>
                      <a:srgbClr val="0A2445"/>
                    </a:solidFill>
                  </a:tcPr>
                </a:tc>
                <a:tc>
                  <a:txBody>
                    <a:bodyPr/>
                    <a:lstStyle/>
                    <a:p>
                      <a:pPr marL="71818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dirty="0" sz="1100" spc="1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solidFill>
                      <a:srgbClr val="0A2445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GET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/api/reliability/rate-limited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58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7533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58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81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r>
                        <a:rPr dirty="0" sz="1050" spc="-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r>
                        <a:rPr dirty="0" sz="1050" spc="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50" spc="-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429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5875"/>
                </a:tc>
              </a:tr>
              <a:tr h="504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52705">
                        <a:lnSpc>
                          <a:spcPct val="100000"/>
                        </a:lnSpc>
                      </a:pPr>
                      <a:r>
                        <a:rPr dirty="0" sz="9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GET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/api/reliability/load-balanced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4604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7533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4604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8185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4604">
                    <a:solidFill>
                      <a:srgbClr val="E8F0F5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r" marR="259079">
                        <a:lnSpc>
                          <a:spcPct val="100000"/>
                        </a:lnSpc>
                      </a:pPr>
                      <a:r>
                        <a:rPr dirty="0" sz="95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/api/reliability/simulate-</a:t>
                      </a:r>
                      <a:r>
                        <a:rPr dirty="0" sz="1050" spc="-2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75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{"requests":</a:t>
                      </a:r>
                      <a:r>
                        <a:rPr dirty="0" sz="1050" spc="-7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50" spc="-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N}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81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r>
                        <a:rPr dirty="0" sz="1050" spc="-5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r>
                        <a:rPr dirty="0" sz="1050" spc="4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50" spc="-1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error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2700"/>
                </a:tc>
              </a:tr>
              <a:tr h="504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r" marR="259079">
                        <a:lnSpc>
                          <a:spcPct val="100000"/>
                        </a:lnSpc>
                      </a:pPr>
                      <a:r>
                        <a:rPr dirty="0" sz="95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/api/reliability/reset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1430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75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050" spc="-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5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(atau</a:t>
                      </a:r>
                      <a:r>
                        <a:rPr dirty="0" sz="1050" spc="-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50" spc="-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{})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1430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81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1430">
                    <a:solidFill>
                      <a:srgbClr val="E8F0F5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r" marR="259079">
                        <a:lnSpc>
                          <a:spcPct val="100000"/>
                        </a:lnSpc>
                      </a:pPr>
                      <a:r>
                        <a:rPr dirty="0" sz="95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B="0" marT="3238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{{n8n_webhook_url}}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75335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{"clientId","scenario","timestamp"}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8185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A2445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36257" y="5019103"/>
            <a:ext cx="107429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Endpoint</a:t>
            </a:r>
            <a:r>
              <a:rPr dirty="0" sz="1100" spc="-2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5B6B79"/>
                </a:solidFill>
                <a:latin typeface="Calibri"/>
                <a:cs typeface="Calibri"/>
              </a:rPr>
              <a:t>ke-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5</a:t>
            </a:r>
            <a:r>
              <a:rPr dirty="0" sz="1100" spc="1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adalah</a:t>
            </a:r>
            <a:r>
              <a:rPr dirty="0" sz="1100" spc="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lapisan </a:t>
            </a:r>
            <a:r>
              <a:rPr dirty="0" sz="1100" spc="-10" i="1">
                <a:solidFill>
                  <a:srgbClr val="5B6B79"/>
                </a:solidFill>
                <a:latin typeface="Calibri"/>
                <a:cs typeface="Calibri"/>
              </a:rPr>
              <a:t>orchestration</a:t>
            </a:r>
            <a:r>
              <a:rPr dirty="0" sz="1100" spc="-7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n8n (webhook), melengkapi</a:t>
            </a:r>
            <a:r>
              <a:rPr dirty="0" sz="1100" spc="2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4</a:t>
            </a:r>
            <a:r>
              <a:rPr dirty="0" sz="1100" spc="1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endpoint</a:t>
            </a:r>
            <a:r>
              <a:rPr dirty="0" sz="1100" spc="5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REST</a:t>
            </a:r>
            <a:r>
              <a:rPr dirty="0" sz="1100" spc="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utama</a:t>
            </a:r>
            <a:r>
              <a:rPr dirty="0" sz="1100" spc="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dengan</a:t>
            </a:r>
            <a:r>
              <a:rPr dirty="0" sz="1100" spc="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5B6B79"/>
                </a:solidFill>
                <a:latin typeface="Calibri"/>
                <a:cs typeface="Calibri"/>
              </a:rPr>
              <a:t>mendemonstrasikan</a:t>
            </a:r>
            <a:r>
              <a:rPr dirty="0" sz="1100" spc="-7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integrasi</a:t>
            </a:r>
            <a:r>
              <a:rPr dirty="0" sz="1100" spc="-5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protocol</a:t>
            </a:r>
            <a:r>
              <a:rPr dirty="0" sz="1100" spc="-5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berbasis</a:t>
            </a:r>
            <a:r>
              <a:rPr dirty="0" sz="1100" spc="-1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HTTP di</a:t>
            </a:r>
            <a:r>
              <a:rPr dirty="0" sz="1100" spc="-5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level</a:t>
            </a:r>
            <a:r>
              <a:rPr dirty="0" sz="1100" spc="2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workflow automation </a:t>
            </a:r>
            <a:r>
              <a:rPr dirty="0" sz="1100" spc="-50" i="1">
                <a:solidFill>
                  <a:srgbClr val="5B6B79"/>
                </a:solidFill>
                <a:latin typeface="Calibri"/>
                <a:cs typeface="Calibri"/>
              </a:rPr>
              <a:t>—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6257" y="5209857"/>
            <a:ext cx="24110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bukan</a:t>
            </a:r>
            <a:r>
              <a:rPr dirty="0" sz="1100" spc="-2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menggantikan</a:t>
            </a:r>
            <a:r>
              <a:rPr dirty="0" sz="1100" spc="-8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jalur</a:t>
            </a:r>
            <a:r>
              <a:rPr dirty="0" sz="1100" spc="2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6B79"/>
                </a:solidFill>
                <a:latin typeface="Calibri"/>
                <a:cs typeface="Calibri"/>
              </a:rPr>
              <a:t>REST</a:t>
            </a:r>
            <a:r>
              <a:rPr dirty="0" sz="1100" spc="1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5B6B79"/>
                </a:solidFill>
                <a:latin typeface="Calibri"/>
                <a:cs typeface="Calibri"/>
              </a:rPr>
              <a:t>langsung.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8015" y="5113083"/>
            <a:ext cx="236728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95" b="1">
                <a:solidFill>
                  <a:srgbClr val="1C7192"/>
                </a:solidFill>
                <a:latin typeface="Calibri"/>
                <a:cs typeface="Calibri"/>
              </a:rPr>
              <a:t>CONTOH</a:t>
            </a:r>
            <a:r>
              <a:rPr dirty="0" sz="1100" spc="2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spc="55" b="1">
                <a:solidFill>
                  <a:srgbClr val="1C7192"/>
                </a:solidFill>
                <a:latin typeface="Calibri"/>
                <a:cs typeface="Calibri"/>
              </a:rPr>
              <a:t>RES</a:t>
            </a:r>
            <a:r>
              <a:rPr dirty="0" sz="1100" spc="-10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spc="80" b="1">
                <a:solidFill>
                  <a:srgbClr val="1C7192"/>
                </a:solidFill>
                <a:latin typeface="Calibri"/>
                <a:cs typeface="Calibri"/>
              </a:rPr>
              <a:t>PONS</a:t>
            </a:r>
            <a:r>
              <a:rPr dirty="0" sz="1100" spc="-10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100" spc="2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spc="80" b="1">
                <a:solidFill>
                  <a:srgbClr val="1C7192"/>
                </a:solidFill>
                <a:latin typeface="Calibri"/>
                <a:cs typeface="Calibri"/>
              </a:rPr>
              <a:t>BODY</a:t>
            </a:r>
            <a:r>
              <a:rPr dirty="0" sz="1100" spc="229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100" spc="75" b="1">
                <a:solidFill>
                  <a:srgbClr val="1C7192"/>
                </a:solidFill>
                <a:latin typeface="Calibri"/>
                <a:cs typeface="Calibri"/>
              </a:rPr>
              <a:t>NYATA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2450" y="5391150"/>
            <a:ext cx="11058525" cy="1057275"/>
          </a:xfrm>
          <a:custGeom>
            <a:avLst/>
            <a:gdLst/>
            <a:ahLst/>
            <a:cxnLst/>
            <a:rect l="l" t="t" r="r" b="b"/>
            <a:pathLst>
              <a:path w="11058525" h="1057275">
                <a:moveTo>
                  <a:pt x="11003407" y="0"/>
                </a:moveTo>
                <a:lnTo>
                  <a:pt x="55156" y="0"/>
                </a:lnTo>
                <a:lnTo>
                  <a:pt x="33689" y="4325"/>
                </a:lnTo>
                <a:lnTo>
                  <a:pt x="16157" y="16129"/>
                </a:lnTo>
                <a:lnTo>
                  <a:pt x="4335" y="33647"/>
                </a:lnTo>
                <a:lnTo>
                  <a:pt x="0" y="55118"/>
                </a:lnTo>
                <a:lnTo>
                  <a:pt x="0" y="1002118"/>
                </a:lnTo>
                <a:lnTo>
                  <a:pt x="4335" y="1023585"/>
                </a:lnTo>
                <a:lnTo>
                  <a:pt x="16157" y="1041117"/>
                </a:lnTo>
                <a:lnTo>
                  <a:pt x="33689" y="1052939"/>
                </a:lnTo>
                <a:lnTo>
                  <a:pt x="55156" y="1057275"/>
                </a:lnTo>
                <a:lnTo>
                  <a:pt x="11003407" y="1057275"/>
                </a:lnTo>
                <a:lnTo>
                  <a:pt x="11024877" y="1052939"/>
                </a:lnTo>
                <a:lnTo>
                  <a:pt x="11042395" y="1041117"/>
                </a:lnTo>
                <a:lnTo>
                  <a:pt x="11054199" y="1023585"/>
                </a:lnTo>
                <a:lnTo>
                  <a:pt x="11058525" y="1002118"/>
                </a:lnTo>
                <a:lnTo>
                  <a:pt x="11058525" y="55118"/>
                </a:lnTo>
                <a:lnTo>
                  <a:pt x="11054199" y="33647"/>
                </a:lnTo>
                <a:lnTo>
                  <a:pt x="11042395" y="16128"/>
                </a:lnTo>
                <a:lnTo>
                  <a:pt x="11024877" y="4325"/>
                </a:lnTo>
                <a:lnTo>
                  <a:pt x="11003407" y="0"/>
                </a:lnTo>
                <a:close/>
              </a:path>
            </a:pathLst>
          </a:custGeom>
          <a:solidFill>
            <a:srgbClr val="0A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65175" y="5691952"/>
            <a:ext cx="7976870" cy="4254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950" b="1">
                <a:solidFill>
                  <a:srgbClr val="F4A200"/>
                </a:solidFill>
                <a:latin typeface="Courier New"/>
                <a:cs typeface="Courier New"/>
              </a:rPr>
              <a:t>GET</a:t>
            </a:r>
            <a:r>
              <a:rPr dirty="0" sz="950" spc="425" b="1">
                <a:solidFill>
                  <a:srgbClr val="F4A200"/>
                </a:solidFill>
                <a:latin typeface="Courier New"/>
                <a:cs typeface="Courier New"/>
              </a:rPr>
              <a:t> </a:t>
            </a:r>
            <a:r>
              <a:rPr dirty="0" sz="950" b="1">
                <a:solidFill>
                  <a:srgbClr val="F4A200"/>
                </a:solidFill>
                <a:latin typeface="Courier New"/>
                <a:cs typeface="Courier New"/>
              </a:rPr>
              <a:t>rate-limited</a:t>
            </a:r>
            <a:r>
              <a:rPr dirty="0" sz="950" spc="425" b="1">
                <a:solidFill>
                  <a:srgbClr val="F4A200"/>
                </a:solidFill>
                <a:latin typeface="Courier New"/>
                <a:cs typeface="Courier New"/>
              </a:rPr>
              <a:t> </a:t>
            </a:r>
            <a:r>
              <a:rPr dirty="0" sz="950" b="1">
                <a:solidFill>
                  <a:srgbClr val="F4A200"/>
                </a:solidFill>
                <a:latin typeface="Courier New"/>
                <a:cs typeface="Courier New"/>
              </a:rPr>
              <a:t>(429):</a:t>
            </a:r>
            <a:r>
              <a:rPr dirty="0" sz="950" spc="434" b="1">
                <a:solidFill>
                  <a:srgbClr val="F4A200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FFFFF"/>
                </a:solidFill>
                <a:latin typeface="Courier New"/>
                <a:cs typeface="Courier New"/>
              </a:rPr>
              <a:t>{"error":"Too</a:t>
            </a:r>
            <a:r>
              <a:rPr dirty="0" sz="950" spc="43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FFFFF"/>
                </a:solidFill>
                <a:latin typeface="Courier New"/>
                <a:cs typeface="Courier New"/>
              </a:rPr>
              <a:t>Many</a:t>
            </a:r>
            <a:r>
              <a:rPr dirty="0" sz="950" spc="4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ourier New"/>
                <a:cs typeface="Courier New"/>
              </a:rPr>
              <a:t>Requests","limit":3,"windowSeconds":10,"retryAfterSeconds":1}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950" b="1">
                <a:solidFill>
                  <a:srgbClr val="05D59F"/>
                </a:solidFill>
                <a:latin typeface="Courier New"/>
                <a:cs typeface="Courier New"/>
              </a:rPr>
              <a:t>POST</a:t>
            </a:r>
            <a:r>
              <a:rPr dirty="0" sz="950" spc="10" b="1">
                <a:solidFill>
                  <a:srgbClr val="05D59F"/>
                </a:solidFill>
                <a:latin typeface="Courier New"/>
                <a:cs typeface="Courier New"/>
              </a:rPr>
              <a:t>  </a:t>
            </a:r>
            <a:r>
              <a:rPr dirty="0" sz="950" b="1">
                <a:solidFill>
                  <a:srgbClr val="05D59F"/>
                </a:solidFill>
                <a:latin typeface="Courier New"/>
                <a:cs typeface="Courier New"/>
              </a:rPr>
              <a:t>n8n</a:t>
            </a:r>
            <a:r>
              <a:rPr dirty="0" sz="950" spc="15" b="1">
                <a:solidFill>
                  <a:srgbClr val="05D59F"/>
                </a:solidFill>
                <a:latin typeface="Courier New"/>
                <a:cs typeface="Courier New"/>
              </a:rPr>
              <a:t>  </a:t>
            </a:r>
            <a:r>
              <a:rPr dirty="0" sz="950" b="1">
                <a:solidFill>
                  <a:srgbClr val="05D59F"/>
                </a:solidFill>
                <a:latin typeface="Courier New"/>
                <a:cs typeface="Courier New"/>
              </a:rPr>
              <a:t>Webhook:</a:t>
            </a:r>
            <a:r>
              <a:rPr dirty="0" sz="950" spc="25" b="1">
                <a:solidFill>
                  <a:srgbClr val="05D59F"/>
                </a:solidFill>
                <a:latin typeface="Courier New"/>
                <a:cs typeface="Courier New"/>
              </a:rPr>
              <a:t>  </a:t>
            </a:r>
            <a:r>
              <a:rPr dirty="0" sz="950" spc="-10">
                <a:solidFill>
                  <a:srgbClr val="FFFFFF"/>
                </a:solidFill>
                <a:latin typeface="Courier New"/>
                <a:cs typeface="Courier New"/>
              </a:rPr>
              <a:t>{"workflowResult":"SUCCESS","backendStatusCode":200,"remaining":2,"limit":3}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08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20027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4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8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4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G</a:t>
            </a:r>
            <a:r>
              <a:rPr dirty="0" sz="1200" spc="3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V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D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C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Evidence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Success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9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Load</a:t>
            </a:r>
            <a:r>
              <a:rPr dirty="0" spc="-5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Balancing</a:t>
            </a:r>
            <a:r>
              <a:rPr dirty="0" spc="-6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(3</a:t>
            </a:r>
            <a:r>
              <a:rPr dirty="0" spc="-10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Backend</a:t>
            </a:r>
            <a:r>
              <a:rPr dirty="0" spc="-55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Node)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257" y="1442909"/>
            <a:ext cx="10848340" cy="42672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Tiga</a:t>
            </a:r>
            <a:r>
              <a:rPr dirty="0" sz="1100" spc="1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kali</a:t>
            </a:r>
            <a:r>
              <a:rPr dirty="0" sz="1100" spc="8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percobaan</a:t>
            </a:r>
            <a:r>
              <a:rPr dirty="0" sz="1100" spc="1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pada</a:t>
            </a:r>
            <a:r>
              <a:rPr dirty="0" sz="1100" spc="1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GET</a:t>
            </a:r>
            <a:r>
              <a:rPr dirty="0" sz="1100" spc="9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/api/reliability/load-balanced</a:t>
            </a:r>
            <a:r>
              <a:rPr dirty="0" sz="1100" spc="1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menunjukkan</a:t>
            </a:r>
            <a:r>
              <a:rPr dirty="0" sz="1100" spc="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server</a:t>
            </a:r>
            <a:r>
              <a:rPr dirty="0" sz="1100" spc="9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mendistribusikan</a:t>
            </a:r>
            <a:r>
              <a:rPr dirty="0" sz="1100" spc="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request</a:t>
            </a:r>
            <a:r>
              <a:rPr dirty="0" sz="1100" spc="114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ke</a:t>
            </a:r>
            <a:r>
              <a:rPr dirty="0" sz="1100" spc="7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tiga</a:t>
            </a:r>
            <a:r>
              <a:rPr dirty="0" sz="1100" spc="10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backend</a:t>
            </a:r>
            <a:r>
              <a:rPr dirty="0" sz="1100" spc="1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node</a:t>
            </a:r>
            <a:r>
              <a:rPr dirty="0" sz="1100" spc="7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berbeda</a:t>
            </a:r>
            <a:r>
              <a:rPr dirty="0" sz="1100" spc="10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secara</a:t>
            </a:r>
            <a:r>
              <a:rPr dirty="0" sz="1100" spc="1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bergantian,</a:t>
            </a:r>
            <a:r>
              <a:rPr dirty="0" sz="1100" spc="5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membuktikan</a:t>
            </a:r>
            <a:r>
              <a:rPr dirty="0" sz="1100" spc="1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mekanisme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load</a:t>
            </a:r>
            <a:r>
              <a:rPr dirty="0" sz="1100" spc="18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balancing</a:t>
            </a:r>
            <a:r>
              <a:rPr dirty="0" sz="1100" spc="6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berjalan.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7212" y="2062226"/>
            <a:ext cx="3610610" cy="3248025"/>
          </a:xfrm>
          <a:custGeom>
            <a:avLst/>
            <a:gdLst/>
            <a:ahLst/>
            <a:cxnLst/>
            <a:rect l="l" t="t" r="r" b="b"/>
            <a:pathLst>
              <a:path w="3610610" h="3248025">
                <a:moveTo>
                  <a:pt x="0" y="45720"/>
                </a:moveTo>
                <a:lnTo>
                  <a:pt x="3593" y="27914"/>
                </a:lnTo>
                <a:lnTo>
                  <a:pt x="13393" y="13382"/>
                </a:lnTo>
                <a:lnTo>
                  <a:pt x="27930" y="3589"/>
                </a:lnTo>
                <a:lnTo>
                  <a:pt x="45732" y="0"/>
                </a:lnTo>
                <a:lnTo>
                  <a:pt x="3564191" y="0"/>
                </a:lnTo>
                <a:lnTo>
                  <a:pt x="3582017" y="3589"/>
                </a:lnTo>
                <a:lnTo>
                  <a:pt x="3596592" y="13382"/>
                </a:lnTo>
                <a:lnTo>
                  <a:pt x="3606428" y="27914"/>
                </a:lnTo>
                <a:lnTo>
                  <a:pt x="3610038" y="45720"/>
                </a:lnTo>
                <a:lnTo>
                  <a:pt x="3610038" y="3202178"/>
                </a:lnTo>
                <a:lnTo>
                  <a:pt x="3606428" y="3220003"/>
                </a:lnTo>
                <a:lnTo>
                  <a:pt x="3596592" y="3234578"/>
                </a:lnTo>
                <a:lnTo>
                  <a:pt x="3582017" y="3244415"/>
                </a:lnTo>
                <a:lnTo>
                  <a:pt x="3564191" y="3248025"/>
                </a:lnTo>
                <a:lnTo>
                  <a:pt x="45732" y="3248025"/>
                </a:lnTo>
                <a:lnTo>
                  <a:pt x="27930" y="3244415"/>
                </a:lnTo>
                <a:lnTo>
                  <a:pt x="13393" y="3234578"/>
                </a:lnTo>
                <a:lnTo>
                  <a:pt x="3593" y="3220003"/>
                </a:lnTo>
                <a:lnTo>
                  <a:pt x="0" y="3202178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/home/claude/pdfimg/final/g6_1_loadbalanced_b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2133600"/>
            <a:ext cx="3467100" cy="2800350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57212" y="2062226"/>
          <a:ext cx="3686810" cy="3247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9975"/>
              </a:tblGrid>
              <a:tr h="294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api-node-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95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115ms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05D59F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348226" y="2062226"/>
            <a:ext cx="3609975" cy="3248025"/>
          </a:xfrm>
          <a:custGeom>
            <a:avLst/>
            <a:gdLst/>
            <a:ahLst/>
            <a:cxnLst/>
            <a:rect l="l" t="t" r="r" b="b"/>
            <a:pathLst>
              <a:path w="3609975" h="3248025">
                <a:moveTo>
                  <a:pt x="0" y="45720"/>
                </a:moveTo>
                <a:lnTo>
                  <a:pt x="3589" y="27914"/>
                </a:lnTo>
                <a:lnTo>
                  <a:pt x="13382" y="13382"/>
                </a:lnTo>
                <a:lnTo>
                  <a:pt x="27914" y="3589"/>
                </a:lnTo>
                <a:lnTo>
                  <a:pt x="45720" y="0"/>
                </a:lnTo>
                <a:lnTo>
                  <a:pt x="3564128" y="0"/>
                </a:lnTo>
                <a:lnTo>
                  <a:pt x="3581953" y="3589"/>
                </a:lnTo>
                <a:lnTo>
                  <a:pt x="3596528" y="13382"/>
                </a:lnTo>
                <a:lnTo>
                  <a:pt x="3606365" y="27914"/>
                </a:lnTo>
                <a:lnTo>
                  <a:pt x="3609975" y="45720"/>
                </a:lnTo>
                <a:lnTo>
                  <a:pt x="3609975" y="3202178"/>
                </a:lnTo>
                <a:lnTo>
                  <a:pt x="3606365" y="3220003"/>
                </a:lnTo>
                <a:lnTo>
                  <a:pt x="3596528" y="3234578"/>
                </a:lnTo>
                <a:lnTo>
                  <a:pt x="3581953" y="3244415"/>
                </a:lnTo>
                <a:lnTo>
                  <a:pt x="3564128" y="3248025"/>
                </a:lnTo>
                <a:lnTo>
                  <a:pt x="45720" y="3248025"/>
                </a:lnTo>
                <a:lnTo>
                  <a:pt x="27914" y="3244415"/>
                </a:lnTo>
                <a:lnTo>
                  <a:pt x="13382" y="3234578"/>
                </a:lnTo>
                <a:lnTo>
                  <a:pt x="3589" y="3220003"/>
                </a:lnTo>
                <a:lnTo>
                  <a:pt x="0" y="3202178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/home/claude/pdfimg/final/g6_2_loadbalanced_a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600" y="2133600"/>
            <a:ext cx="3467100" cy="2800350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48226" y="2062226"/>
          <a:ext cx="3686175" cy="3247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9975"/>
              </a:tblGrid>
              <a:tr h="294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api-node-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· 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80ms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1C7192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139176" y="2062226"/>
            <a:ext cx="3619500" cy="3248025"/>
          </a:xfrm>
          <a:custGeom>
            <a:avLst/>
            <a:gdLst/>
            <a:ahLst/>
            <a:cxnLst/>
            <a:rect l="l" t="t" r="r" b="b"/>
            <a:pathLst>
              <a:path w="3619500" h="3248025">
                <a:moveTo>
                  <a:pt x="0" y="45720"/>
                </a:moveTo>
                <a:lnTo>
                  <a:pt x="3589" y="27914"/>
                </a:lnTo>
                <a:lnTo>
                  <a:pt x="13382" y="13382"/>
                </a:lnTo>
                <a:lnTo>
                  <a:pt x="27914" y="3589"/>
                </a:lnTo>
                <a:lnTo>
                  <a:pt x="45720" y="0"/>
                </a:lnTo>
                <a:lnTo>
                  <a:pt x="3573653" y="0"/>
                </a:lnTo>
                <a:lnTo>
                  <a:pt x="3591478" y="3589"/>
                </a:lnTo>
                <a:lnTo>
                  <a:pt x="3606053" y="13382"/>
                </a:lnTo>
                <a:lnTo>
                  <a:pt x="3615890" y="27914"/>
                </a:lnTo>
                <a:lnTo>
                  <a:pt x="3619500" y="45720"/>
                </a:lnTo>
                <a:lnTo>
                  <a:pt x="3619500" y="3202178"/>
                </a:lnTo>
                <a:lnTo>
                  <a:pt x="3615890" y="3220003"/>
                </a:lnTo>
                <a:lnTo>
                  <a:pt x="3606053" y="3234578"/>
                </a:lnTo>
                <a:lnTo>
                  <a:pt x="3591478" y="3244415"/>
                </a:lnTo>
                <a:lnTo>
                  <a:pt x="3573653" y="3248025"/>
                </a:lnTo>
                <a:lnTo>
                  <a:pt x="45720" y="3248025"/>
                </a:lnTo>
                <a:lnTo>
                  <a:pt x="27914" y="3244415"/>
                </a:lnTo>
                <a:lnTo>
                  <a:pt x="13382" y="3234578"/>
                </a:lnTo>
                <a:lnTo>
                  <a:pt x="3589" y="3220003"/>
                </a:lnTo>
                <a:lnTo>
                  <a:pt x="0" y="3202178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/home/claude/pdfimg/final/g6_3_loadbalanced_c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50" y="2133600"/>
            <a:ext cx="3467100" cy="2800350"/>
          </a:xfrm>
          <a:prstGeom prst="rect">
            <a:avLst/>
          </a:prstGeom>
        </p:spPr>
      </p:pic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139176" y="2062226"/>
          <a:ext cx="3695700" cy="3247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</a:tblGrid>
              <a:tr h="294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api-node-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 ·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150ms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4A200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1736451" y="6454667"/>
            <a:ext cx="160020" cy="17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-25">
                <a:solidFill>
                  <a:srgbClr val="5B6B79"/>
                </a:solidFill>
                <a:latin typeface="Calibri"/>
                <a:cs typeface="Calibri"/>
              </a:rPr>
              <a:t>09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257" y="5600382"/>
            <a:ext cx="995743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Urutan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backend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yang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muncul</a:t>
            </a:r>
            <a:r>
              <a:rPr dirty="0" sz="1050" spc="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(b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→ a</a:t>
            </a:r>
            <a:r>
              <a:rPr dirty="0" sz="1050" spc="-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→</a:t>
            </a:r>
            <a:r>
              <a:rPr dirty="0" sz="1050" spc="-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c)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tidak</a:t>
            </a:r>
            <a:r>
              <a:rPr dirty="0" sz="1050" spc="2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mengikuti</a:t>
            </a:r>
            <a:r>
              <a:rPr dirty="0" sz="1050" spc="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pola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round</a:t>
            </a:r>
            <a:r>
              <a:rPr dirty="0" sz="1050" spc="-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robin</a:t>
            </a:r>
            <a:r>
              <a:rPr dirty="0" sz="1050" spc="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yang</a:t>
            </a:r>
            <a:r>
              <a:rPr dirty="0" sz="1050" spc="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konsisten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maupun</a:t>
            </a:r>
            <a:r>
              <a:rPr dirty="0" sz="1050" spc="-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5B6B79"/>
                </a:solidFill>
                <a:latin typeface="Calibri"/>
                <a:cs typeface="Calibri"/>
              </a:rPr>
              <a:t>least-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latency</a:t>
            </a:r>
            <a:r>
              <a:rPr dirty="0" sz="1050" spc="-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—</a:t>
            </a:r>
            <a:r>
              <a:rPr dirty="0" sz="1050" spc="-1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mengindikasikan</a:t>
            </a:r>
            <a:r>
              <a:rPr dirty="0" sz="1050" spc="35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algoritma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random</a:t>
            </a:r>
            <a:r>
              <a:rPr dirty="0" sz="1050" spc="-3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selection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antar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5B6B79"/>
                </a:solidFill>
                <a:latin typeface="Calibri"/>
                <a:cs typeface="Calibri"/>
              </a:rPr>
              <a:t>3</a:t>
            </a:r>
            <a:r>
              <a:rPr dirty="0" sz="1050" spc="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backend</a:t>
            </a:r>
            <a:r>
              <a:rPr dirty="0" sz="1050" spc="-40" i="1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5B6B79"/>
                </a:solidFill>
                <a:latin typeface="Calibri"/>
                <a:cs typeface="Calibri"/>
              </a:rPr>
              <a:t>node.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20027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4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8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4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G</a:t>
            </a:r>
            <a:r>
              <a:rPr dirty="0" sz="1200" spc="3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V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D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C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Evidence</a:t>
            </a:r>
            <a:r>
              <a:rPr dirty="0" spc="-10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Success</a:t>
            </a:r>
            <a:r>
              <a:rPr dirty="0" spc="-10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11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Reset</a:t>
            </a:r>
            <a:r>
              <a:rPr dirty="0" spc="-7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Reliability</a:t>
            </a:r>
            <a:r>
              <a:rPr dirty="0" spc="-110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State</a:t>
            </a:r>
          </a:p>
        </p:txBody>
      </p:sp>
      <p:sp>
        <p:nvSpPr>
          <p:cNvPr id="4" name="object 4"/>
          <p:cNvSpPr/>
          <p:nvPr/>
        </p:nvSpPr>
        <p:spPr>
          <a:xfrm>
            <a:off x="557212" y="1509775"/>
            <a:ext cx="6029960" cy="4572000"/>
          </a:xfrm>
          <a:custGeom>
            <a:avLst/>
            <a:gdLst/>
            <a:ahLst/>
            <a:cxnLst/>
            <a:rect l="l" t="t" r="r" b="b"/>
            <a:pathLst>
              <a:path w="6029959" h="4572000">
                <a:moveTo>
                  <a:pt x="0" y="45720"/>
                </a:moveTo>
                <a:lnTo>
                  <a:pt x="3593" y="27914"/>
                </a:lnTo>
                <a:lnTo>
                  <a:pt x="13392" y="13382"/>
                </a:lnTo>
                <a:lnTo>
                  <a:pt x="27924" y="3589"/>
                </a:lnTo>
                <a:lnTo>
                  <a:pt x="45720" y="0"/>
                </a:lnTo>
                <a:lnTo>
                  <a:pt x="5983541" y="0"/>
                </a:lnTo>
                <a:lnTo>
                  <a:pt x="6001367" y="3589"/>
                </a:lnTo>
                <a:lnTo>
                  <a:pt x="6015942" y="13382"/>
                </a:lnTo>
                <a:lnTo>
                  <a:pt x="6025778" y="27914"/>
                </a:lnTo>
                <a:lnTo>
                  <a:pt x="6029388" y="45720"/>
                </a:lnTo>
                <a:lnTo>
                  <a:pt x="6029388" y="4526216"/>
                </a:lnTo>
                <a:lnTo>
                  <a:pt x="6025778" y="4544011"/>
                </a:lnTo>
                <a:lnTo>
                  <a:pt x="6015942" y="4558544"/>
                </a:lnTo>
                <a:lnTo>
                  <a:pt x="6001367" y="4568343"/>
                </a:lnTo>
                <a:lnTo>
                  <a:pt x="5983541" y="4571936"/>
                </a:lnTo>
                <a:lnTo>
                  <a:pt x="45720" y="4571936"/>
                </a:lnTo>
                <a:lnTo>
                  <a:pt x="27924" y="4568343"/>
                </a:lnTo>
                <a:lnTo>
                  <a:pt x="13392" y="4558544"/>
                </a:lnTo>
                <a:lnTo>
                  <a:pt x="3593" y="4544011"/>
                </a:lnTo>
                <a:lnTo>
                  <a:pt x="0" y="4526216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/home/claude/pdfimg/final/g6_4_rese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581150"/>
            <a:ext cx="5895975" cy="413385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7212" y="1509775"/>
          <a:ext cx="6106160" cy="4571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9325"/>
              </a:tblGrid>
              <a:tr h="4281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0195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6.4 —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r>
                        <a:rPr dirty="0" sz="950" spc="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OK,</a:t>
                      </a:r>
                      <a:r>
                        <a:rPr dirty="0" sz="95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reliability</a:t>
                      </a:r>
                      <a:r>
                        <a:rPr dirty="0" sz="95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berhasil</a:t>
                      </a:r>
                      <a:r>
                        <a:rPr dirty="0" sz="95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direset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solidFill>
                      <a:srgbClr val="05D59F"/>
                    </a:solidFill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6858000" y="1504950"/>
            <a:ext cx="4800600" cy="4572000"/>
            <a:chOff x="6858000" y="1504950"/>
            <a:chExt cx="4800600" cy="4572000"/>
          </a:xfrm>
        </p:grpSpPr>
        <p:sp>
          <p:nvSpPr>
            <p:cNvPr id="8" name="object 8"/>
            <p:cNvSpPr/>
            <p:nvPr/>
          </p:nvSpPr>
          <p:spPr>
            <a:xfrm>
              <a:off x="6858000" y="1504950"/>
              <a:ext cx="4800600" cy="4572000"/>
            </a:xfrm>
            <a:custGeom>
              <a:avLst/>
              <a:gdLst/>
              <a:ahLst/>
              <a:cxnLst/>
              <a:rect l="l" t="t" r="r" b="b"/>
              <a:pathLst>
                <a:path w="4800600" h="4572000">
                  <a:moveTo>
                    <a:pt x="47274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498848"/>
                  </a:lnTo>
                  <a:lnTo>
                    <a:pt x="5750" y="4527321"/>
                  </a:lnTo>
                  <a:lnTo>
                    <a:pt x="21431" y="4550573"/>
                  </a:lnTo>
                  <a:lnTo>
                    <a:pt x="44684" y="4566251"/>
                  </a:lnTo>
                  <a:lnTo>
                    <a:pt x="73151" y="4572000"/>
                  </a:lnTo>
                  <a:lnTo>
                    <a:pt x="4727448" y="4572000"/>
                  </a:lnTo>
                  <a:lnTo>
                    <a:pt x="4755915" y="4566251"/>
                  </a:lnTo>
                  <a:lnTo>
                    <a:pt x="4779168" y="4550573"/>
                  </a:lnTo>
                  <a:lnTo>
                    <a:pt x="4794849" y="4527321"/>
                  </a:lnTo>
                  <a:lnTo>
                    <a:pt x="4800600" y="4498848"/>
                  </a:lnTo>
                  <a:lnTo>
                    <a:pt x="4800600" y="73151"/>
                  </a:lnTo>
                  <a:lnTo>
                    <a:pt x="4794849" y="44684"/>
                  </a:lnTo>
                  <a:lnTo>
                    <a:pt x="4779168" y="21431"/>
                  </a:lnTo>
                  <a:lnTo>
                    <a:pt x="4755915" y="5750"/>
                  </a:lnTo>
                  <a:lnTo>
                    <a:pt x="4727448" y="0"/>
                  </a:lnTo>
                  <a:close/>
                </a:path>
              </a:pathLst>
            </a:custGeom>
            <a:solidFill>
              <a:srgbClr val="0A24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86600" y="1714500"/>
              <a:ext cx="1009650" cy="295275"/>
            </a:xfrm>
            <a:custGeom>
              <a:avLst/>
              <a:gdLst/>
              <a:ahLst/>
              <a:cxnLst/>
              <a:rect l="l" t="t" r="r" b="b"/>
              <a:pathLst>
                <a:path w="1009650" h="295275">
                  <a:moveTo>
                    <a:pt x="862076" y="0"/>
                  </a:moveTo>
                  <a:lnTo>
                    <a:pt x="147574" y="0"/>
                  </a:lnTo>
                  <a:lnTo>
                    <a:pt x="100917" y="7520"/>
                  </a:lnTo>
                  <a:lnTo>
                    <a:pt x="60405" y="28464"/>
                  </a:lnTo>
                  <a:lnTo>
                    <a:pt x="28464" y="60405"/>
                  </a:lnTo>
                  <a:lnTo>
                    <a:pt x="7520" y="100917"/>
                  </a:lnTo>
                  <a:lnTo>
                    <a:pt x="0" y="147574"/>
                  </a:lnTo>
                  <a:lnTo>
                    <a:pt x="7520" y="194292"/>
                  </a:lnTo>
                  <a:lnTo>
                    <a:pt x="28464" y="234842"/>
                  </a:lnTo>
                  <a:lnTo>
                    <a:pt x="60405" y="266802"/>
                  </a:lnTo>
                  <a:lnTo>
                    <a:pt x="100917" y="287753"/>
                  </a:lnTo>
                  <a:lnTo>
                    <a:pt x="147574" y="295275"/>
                  </a:lnTo>
                  <a:lnTo>
                    <a:pt x="862076" y="295275"/>
                  </a:lnTo>
                  <a:lnTo>
                    <a:pt x="908732" y="287753"/>
                  </a:lnTo>
                  <a:lnTo>
                    <a:pt x="949244" y="266802"/>
                  </a:lnTo>
                  <a:lnTo>
                    <a:pt x="981185" y="234842"/>
                  </a:lnTo>
                  <a:lnTo>
                    <a:pt x="1002129" y="194292"/>
                  </a:lnTo>
                  <a:lnTo>
                    <a:pt x="1009650" y="147574"/>
                  </a:lnTo>
                  <a:lnTo>
                    <a:pt x="1002129" y="100917"/>
                  </a:lnTo>
                  <a:lnTo>
                    <a:pt x="981185" y="60405"/>
                  </a:lnTo>
                  <a:lnTo>
                    <a:pt x="949244" y="28464"/>
                  </a:lnTo>
                  <a:lnTo>
                    <a:pt x="908732" y="7520"/>
                  </a:lnTo>
                  <a:lnTo>
                    <a:pt x="862076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079233" y="1769745"/>
            <a:ext cx="4110354" cy="281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ourier New"/>
                <a:cs typeface="Courier New"/>
              </a:rPr>
              <a:t>200</a:t>
            </a:r>
            <a:r>
              <a:rPr dirty="0" sz="950" spc="7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50" spc="-35" b="1">
                <a:solidFill>
                  <a:srgbClr val="FFFFFF"/>
                </a:solidFill>
                <a:latin typeface="Courier New"/>
                <a:cs typeface="Courier New"/>
              </a:rPr>
              <a:t>OK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50" b="1">
                <a:solidFill>
                  <a:srgbClr val="FFFFFF"/>
                </a:solidFill>
                <a:latin typeface="Courier New"/>
                <a:cs typeface="Courier New"/>
              </a:rPr>
              <a:t>POST</a:t>
            </a:r>
            <a:r>
              <a:rPr dirty="0" sz="1250" spc="1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ourier New"/>
                <a:cs typeface="Courier New"/>
              </a:rPr>
              <a:t>/api/reliability/reset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250">
              <a:latin typeface="Courier New"/>
              <a:cs typeface="Courier New"/>
            </a:endParaRPr>
          </a:p>
          <a:p>
            <a:pPr marL="447040" indent="-342900">
              <a:lnSpc>
                <a:spcPct val="100000"/>
              </a:lnSpc>
              <a:buChar char="▪"/>
              <a:tabLst>
                <a:tab pos="447040" algn="l"/>
              </a:tabLst>
            </a:pP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Endpoint</a:t>
            </a:r>
            <a:r>
              <a:rPr dirty="0" sz="11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reset</a:t>
            </a:r>
            <a:r>
              <a:rPr dirty="0" sz="11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berhasil</a:t>
            </a:r>
            <a:r>
              <a:rPr dirty="0" sz="110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mengembalikan</a:t>
            </a:r>
            <a:r>
              <a:rPr dirty="0" sz="11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konfirmasi:</a:t>
            </a:r>
            <a:endParaRPr sz="1100">
              <a:latin typeface="Calibri"/>
              <a:cs typeface="Calibri"/>
            </a:endParaRPr>
          </a:p>
          <a:p>
            <a:pPr marL="447040">
              <a:lnSpc>
                <a:spcPct val="100000"/>
              </a:lnSpc>
              <a:spcBef>
                <a:spcPts val="409"/>
              </a:spcBef>
            </a:pP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{"message":"Reliability</a:t>
            </a:r>
            <a:r>
              <a:rPr dirty="0" sz="11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r>
              <a:rPr dirty="0" sz="11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reset"}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Calibri"/>
              <a:cs typeface="Calibri"/>
            </a:endParaRPr>
          </a:p>
          <a:p>
            <a:pPr marL="447040" marR="507365" indent="-343535">
              <a:lnSpc>
                <a:spcPct val="130900"/>
              </a:lnSpc>
              <a:buChar char="▪"/>
              <a:tabLst>
                <a:tab pos="44704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Membuktikan</a:t>
            </a:r>
            <a:r>
              <a:rPr dirty="0" sz="11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dirty="0" sz="110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tetap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berfungsi</a:t>
            </a:r>
            <a:r>
              <a:rPr dirty="0" sz="11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normal</a:t>
            </a:r>
            <a:r>
              <a:rPr dirty="0" sz="11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dan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siap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melanjutkan</a:t>
            </a:r>
            <a:r>
              <a:rPr dirty="0" sz="11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pengujian</a:t>
            </a:r>
            <a:r>
              <a:rPr dirty="0" sz="11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berikutnya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FFFFFF"/>
              </a:buClr>
              <a:buFont typeface="Calibri"/>
              <a:buChar char="▪"/>
            </a:pPr>
            <a:endParaRPr sz="1100">
              <a:latin typeface="Calibri"/>
              <a:cs typeface="Calibri"/>
            </a:endParaRPr>
          </a:p>
          <a:p>
            <a:pPr marL="447040" marR="5080" indent="-343535">
              <a:lnSpc>
                <a:spcPct val="130900"/>
              </a:lnSpc>
              <a:buChar char="▪"/>
              <a:tabLst>
                <a:tab pos="44704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Berperan</a:t>
            </a:r>
            <a:r>
              <a:rPr dirty="0" sz="110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penting</a:t>
            </a:r>
            <a:r>
              <a:rPr dirty="0" sz="11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sebagai</a:t>
            </a:r>
            <a:r>
              <a:rPr dirty="0" sz="11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bukti</a:t>
            </a:r>
            <a:r>
              <a:rPr dirty="0" sz="11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'partial</a:t>
            </a:r>
            <a:r>
              <a:rPr dirty="0" sz="11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resilience':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meski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endpoint</a:t>
            </a:r>
            <a:r>
              <a:rPr dirty="0" sz="11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lain</a:t>
            </a:r>
            <a:r>
              <a:rPr dirty="0" sz="11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sempat</a:t>
            </a:r>
            <a:r>
              <a:rPr dirty="0" sz="11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gagal</a:t>
            </a:r>
            <a:r>
              <a:rPr dirty="0" sz="11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(simulate-load),</a:t>
            </a:r>
            <a:r>
              <a:rPr dirty="0" sz="11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dirty="0" sz="11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tidak</a:t>
            </a:r>
            <a:r>
              <a:rPr dirty="0" sz="11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crash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dirty="0" sz="110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1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reset</a:t>
            </a:r>
            <a:r>
              <a:rPr dirty="0" sz="11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tetap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berhasil</a:t>
            </a:r>
            <a:r>
              <a:rPr dirty="0" sz="11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dijalankan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setelahnya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20027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4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8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4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1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G</a:t>
            </a:r>
            <a:r>
              <a:rPr dirty="0" sz="1200" spc="3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V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D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3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C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Evidence</a:t>
            </a:r>
            <a:r>
              <a:rPr dirty="0" spc="-65">
                <a:solidFill>
                  <a:srgbClr val="0A2445"/>
                </a:solidFill>
              </a:rPr>
              <a:t> </a:t>
            </a:r>
            <a:r>
              <a:rPr dirty="0" spc="-20">
                <a:solidFill>
                  <a:srgbClr val="0A2445"/>
                </a:solidFill>
              </a:rPr>
              <a:t>Failure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7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Rate</a:t>
            </a:r>
            <a:r>
              <a:rPr dirty="0" spc="-6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Limit</a:t>
            </a:r>
            <a:r>
              <a:rPr dirty="0" spc="-3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&amp;</a:t>
            </a:r>
            <a:r>
              <a:rPr dirty="0" spc="-7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Input</a:t>
            </a:r>
            <a:r>
              <a:rPr dirty="0" spc="-3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Tidak</a:t>
            </a:r>
            <a:r>
              <a:rPr dirty="0" spc="-20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Divalidasi</a:t>
            </a:r>
          </a:p>
        </p:txBody>
      </p:sp>
      <p:sp>
        <p:nvSpPr>
          <p:cNvPr id="4" name="object 4"/>
          <p:cNvSpPr/>
          <p:nvPr/>
        </p:nvSpPr>
        <p:spPr>
          <a:xfrm>
            <a:off x="557212" y="1509775"/>
            <a:ext cx="5525135" cy="2743200"/>
          </a:xfrm>
          <a:custGeom>
            <a:avLst/>
            <a:gdLst/>
            <a:ahLst/>
            <a:cxnLst/>
            <a:rect l="l" t="t" r="r" b="b"/>
            <a:pathLst>
              <a:path w="5525135" h="2743200">
                <a:moveTo>
                  <a:pt x="0" y="45720"/>
                </a:moveTo>
                <a:lnTo>
                  <a:pt x="3593" y="27914"/>
                </a:lnTo>
                <a:lnTo>
                  <a:pt x="13393" y="13382"/>
                </a:lnTo>
                <a:lnTo>
                  <a:pt x="27930" y="3589"/>
                </a:lnTo>
                <a:lnTo>
                  <a:pt x="45732" y="0"/>
                </a:lnTo>
                <a:lnTo>
                  <a:pt x="5478716" y="0"/>
                </a:lnTo>
                <a:lnTo>
                  <a:pt x="5496542" y="3589"/>
                </a:lnTo>
                <a:lnTo>
                  <a:pt x="5511117" y="13382"/>
                </a:lnTo>
                <a:lnTo>
                  <a:pt x="5520953" y="27914"/>
                </a:lnTo>
                <a:lnTo>
                  <a:pt x="5524563" y="45720"/>
                </a:lnTo>
                <a:lnTo>
                  <a:pt x="5524563" y="2697353"/>
                </a:lnTo>
                <a:lnTo>
                  <a:pt x="5520953" y="2715158"/>
                </a:lnTo>
                <a:lnTo>
                  <a:pt x="5511117" y="2729690"/>
                </a:lnTo>
                <a:lnTo>
                  <a:pt x="5496542" y="2739483"/>
                </a:lnTo>
                <a:lnTo>
                  <a:pt x="5478716" y="2743073"/>
                </a:lnTo>
                <a:lnTo>
                  <a:pt x="45732" y="2743073"/>
                </a:lnTo>
                <a:lnTo>
                  <a:pt x="27930" y="2739483"/>
                </a:lnTo>
                <a:lnTo>
                  <a:pt x="13393" y="2729690"/>
                </a:lnTo>
                <a:lnTo>
                  <a:pt x="3593" y="2715158"/>
                </a:lnTo>
                <a:lnTo>
                  <a:pt x="0" y="269735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/home/claude/pdfimg/final/g7_1_ratelimi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581150"/>
            <a:ext cx="5391150" cy="230505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7212" y="1509775"/>
          <a:ext cx="5601335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0"/>
              </a:tblGrid>
              <a:tr h="2452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0195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7.1</a:t>
                      </a:r>
                      <a:r>
                        <a:rPr dirty="0" sz="95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95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429</a:t>
                      </a:r>
                      <a:r>
                        <a:rPr dirty="0" sz="95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</a:t>
                      </a:r>
                      <a:r>
                        <a:rPr dirty="0" sz="95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dirty="0" sz="95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solidFill>
                      <a:srgbClr val="F4A200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28015" y="4382770"/>
            <a:ext cx="52425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Setelah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3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berhasil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dalam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window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10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detik,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ke-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4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ditolak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dengan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status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429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015" y="4666183"/>
            <a:ext cx="5055235" cy="3886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70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Field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retryAfterSeconds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memberi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tahu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client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kapan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boleh</a:t>
            </a:r>
            <a:r>
              <a:rPr dirty="0" sz="1050" spc="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mencoba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lagi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mendukung</a:t>
            </a:r>
            <a:endParaRPr sz="10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strategi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retry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sisi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client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10376" y="1509775"/>
            <a:ext cx="5353050" cy="2743200"/>
          </a:xfrm>
          <a:custGeom>
            <a:avLst/>
            <a:gdLst/>
            <a:ahLst/>
            <a:cxnLst/>
            <a:rect l="l" t="t" r="r" b="b"/>
            <a:pathLst>
              <a:path w="5353050" h="2743200">
                <a:moveTo>
                  <a:pt x="0" y="45720"/>
                </a:moveTo>
                <a:lnTo>
                  <a:pt x="3589" y="27914"/>
                </a:lnTo>
                <a:lnTo>
                  <a:pt x="13382" y="13382"/>
                </a:lnTo>
                <a:lnTo>
                  <a:pt x="27914" y="3589"/>
                </a:lnTo>
                <a:lnTo>
                  <a:pt x="45720" y="0"/>
                </a:lnTo>
                <a:lnTo>
                  <a:pt x="5307203" y="0"/>
                </a:lnTo>
                <a:lnTo>
                  <a:pt x="5325028" y="3589"/>
                </a:lnTo>
                <a:lnTo>
                  <a:pt x="5339603" y="13382"/>
                </a:lnTo>
                <a:lnTo>
                  <a:pt x="5349440" y="27914"/>
                </a:lnTo>
                <a:lnTo>
                  <a:pt x="5353050" y="45720"/>
                </a:lnTo>
                <a:lnTo>
                  <a:pt x="5353050" y="2697353"/>
                </a:lnTo>
                <a:lnTo>
                  <a:pt x="5349440" y="2715158"/>
                </a:lnTo>
                <a:lnTo>
                  <a:pt x="5339603" y="2729690"/>
                </a:lnTo>
                <a:lnTo>
                  <a:pt x="5325028" y="2739483"/>
                </a:lnTo>
                <a:lnTo>
                  <a:pt x="5307203" y="2743073"/>
                </a:lnTo>
                <a:lnTo>
                  <a:pt x="45720" y="2743073"/>
                </a:lnTo>
                <a:lnTo>
                  <a:pt x="27914" y="2739483"/>
                </a:lnTo>
                <a:lnTo>
                  <a:pt x="13382" y="2729690"/>
                </a:lnTo>
                <a:lnTo>
                  <a:pt x="3589" y="2715158"/>
                </a:lnTo>
                <a:lnTo>
                  <a:pt x="0" y="269735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/home/claude/pdfimg/final/g7_2_simulateloa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0" y="1581150"/>
            <a:ext cx="5200650" cy="2305050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310376" y="1509775"/>
          <a:ext cx="5429250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3050"/>
              </a:tblGrid>
              <a:tr h="2452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01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7.2</a:t>
                      </a:r>
                      <a:r>
                        <a:rPr dirty="0" sz="95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tipe</a:t>
                      </a:r>
                      <a:r>
                        <a:rPr dirty="0" sz="950" spc="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salah</a:t>
                      </a:r>
                      <a:r>
                        <a:rPr dirty="0" sz="950" spc="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pada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simulate-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load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solidFill>
                      <a:srgbClr val="E63946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6393179" y="4382770"/>
            <a:ext cx="51803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Field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"requests" diisi</a:t>
            </a:r>
            <a:r>
              <a:rPr dirty="0" sz="1050" spc="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string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("banyak")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bukan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angka</a:t>
            </a:r>
            <a:r>
              <a:rPr dirty="0" sz="1050" spc="-7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 server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tidak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memvalidasi</a:t>
            </a:r>
            <a:r>
              <a:rPr dirty="0" sz="1050" spc="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tipe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data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3179" y="4666183"/>
            <a:ext cx="4885690" cy="3886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70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Akibatnya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koneksi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terputus (socket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hang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up),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bukan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400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Bad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terstruktur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endParaRPr sz="10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celah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error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handling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aplikasi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711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5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O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B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R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V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10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B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">
                <a:solidFill>
                  <a:srgbClr val="0A2445"/>
                </a:solidFill>
              </a:rPr>
              <a:t>Traffic</a:t>
            </a:r>
            <a:r>
              <a:rPr dirty="0" spc="-11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Evidence</a:t>
            </a:r>
            <a:r>
              <a:rPr dirty="0" spc="-11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Wireshark</a:t>
            </a:r>
            <a:r>
              <a:rPr dirty="0" spc="-95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(1/2)</a:t>
            </a:r>
          </a:p>
        </p:txBody>
      </p:sp>
      <p:sp>
        <p:nvSpPr>
          <p:cNvPr id="4" name="object 4"/>
          <p:cNvSpPr/>
          <p:nvPr/>
        </p:nvSpPr>
        <p:spPr>
          <a:xfrm>
            <a:off x="557212" y="1509775"/>
            <a:ext cx="5525135" cy="3067050"/>
          </a:xfrm>
          <a:custGeom>
            <a:avLst/>
            <a:gdLst/>
            <a:ahLst/>
            <a:cxnLst/>
            <a:rect l="l" t="t" r="r" b="b"/>
            <a:pathLst>
              <a:path w="5525135" h="3067050">
                <a:moveTo>
                  <a:pt x="0" y="45720"/>
                </a:moveTo>
                <a:lnTo>
                  <a:pt x="3598" y="27914"/>
                </a:lnTo>
                <a:lnTo>
                  <a:pt x="13411" y="13382"/>
                </a:lnTo>
                <a:lnTo>
                  <a:pt x="27967" y="3589"/>
                </a:lnTo>
                <a:lnTo>
                  <a:pt x="45796" y="0"/>
                </a:lnTo>
                <a:lnTo>
                  <a:pt x="5478716" y="0"/>
                </a:lnTo>
                <a:lnTo>
                  <a:pt x="5496542" y="3589"/>
                </a:lnTo>
                <a:lnTo>
                  <a:pt x="5511117" y="13382"/>
                </a:lnTo>
                <a:lnTo>
                  <a:pt x="5520953" y="27914"/>
                </a:lnTo>
                <a:lnTo>
                  <a:pt x="5524563" y="45720"/>
                </a:lnTo>
                <a:lnTo>
                  <a:pt x="5524563" y="3021203"/>
                </a:lnTo>
                <a:lnTo>
                  <a:pt x="5520953" y="3039008"/>
                </a:lnTo>
                <a:lnTo>
                  <a:pt x="5511117" y="3053540"/>
                </a:lnTo>
                <a:lnTo>
                  <a:pt x="5496542" y="3063333"/>
                </a:lnTo>
                <a:lnTo>
                  <a:pt x="5478716" y="3066923"/>
                </a:lnTo>
                <a:lnTo>
                  <a:pt x="45796" y="3066923"/>
                </a:lnTo>
                <a:lnTo>
                  <a:pt x="27967" y="3063333"/>
                </a:lnTo>
                <a:lnTo>
                  <a:pt x="13411" y="3053540"/>
                </a:lnTo>
                <a:lnTo>
                  <a:pt x="3598" y="3039008"/>
                </a:lnTo>
                <a:lnTo>
                  <a:pt x="0" y="302120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/home/claude/pdfimg/final/g8_1_wireshark_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581150"/>
            <a:ext cx="5391150" cy="262890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7212" y="1509775"/>
          <a:ext cx="5601335" cy="3066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0"/>
              </a:tblGrid>
              <a:tr h="276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8.1</a:t>
                      </a:r>
                      <a:r>
                        <a:rPr dirty="0" sz="95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95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TCP</a:t>
                      </a:r>
                      <a:r>
                        <a:rPr dirty="0" sz="950" spc="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handshake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95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950" spc="7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OK</a:t>
                      </a:r>
                      <a:r>
                        <a:rPr dirty="0" sz="95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FIN-ACK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28015" y="4681423"/>
            <a:ext cx="5175250" cy="3886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70"/>
              </a:spcBef>
              <a:buChar char="▪"/>
              <a:tabLst>
                <a:tab pos="354965" algn="l"/>
              </a:tabLst>
            </a:pP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Capture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pada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loopback</a:t>
            </a:r>
            <a:r>
              <a:rPr dirty="0" sz="1050" spc="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(tcp.port==8088)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menangkap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siklus</a:t>
            </a:r>
            <a:r>
              <a:rPr dirty="0" sz="1050" spc="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lengkap: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SYN,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SYN-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ACK,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ACK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endParaRPr sz="10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HTTP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GET</a:t>
            </a:r>
            <a:r>
              <a:rPr dirty="0" sz="1050" spc="-7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response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200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OK</a:t>
            </a:r>
            <a:r>
              <a:rPr dirty="0" sz="1050" spc="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(di-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reassemble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karena</a:t>
            </a:r>
            <a:r>
              <a:rPr dirty="0" sz="1050" spc="-7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&gt;1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segmen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TCP)</a:t>
            </a:r>
            <a:r>
              <a:rPr dirty="0" sz="1050" spc="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→</a:t>
            </a:r>
            <a:r>
              <a:rPr dirty="0" sz="1050" spc="-6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FIN-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ACK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10376" y="1509775"/>
            <a:ext cx="5353050" cy="3067050"/>
          </a:xfrm>
          <a:custGeom>
            <a:avLst/>
            <a:gdLst/>
            <a:ahLst/>
            <a:cxnLst/>
            <a:rect l="l" t="t" r="r" b="b"/>
            <a:pathLst>
              <a:path w="5353050" h="3067050">
                <a:moveTo>
                  <a:pt x="0" y="45720"/>
                </a:moveTo>
                <a:lnTo>
                  <a:pt x="3589" y="27914"/>
                </a:lnTo>
                <a:lnTo>
                  <a:pt x="13382" y="13382"/>
                </a:lnTo>
                <a:lnTo>
                  <a:pt x="27914" y="3589"/>
                </a:lnTo>
                <a:lnTo>
                  <a:pt x="45720" y="0"/>
                </a:lnTo>
                <a:lnTo>
                  <a:pt x="5307203" y="0"/>
                </a:lnTo>
                <a:lnTo>
                  <a:pt x="5325028" y="3589"/>
                </a:lnTo>
                <a:lnTo>
                  <a:pt x="5339603" y="13382"/>
                </a:lnTo>
                <a:lnTo>
                  <a:pt x="5349440" y="27914"/>
                </a:lnTo>
                <a:lnTo>
                  <a:pt x="5353050" y="45720"/>
                </a:lnTo>
                <a:lnTo>
                  <a:pt x="5353050" y="3021203"/>
                </a:lnTo>
                <a:lnTo>
                  <a:pt x="5349440" y="3039008"/>
                </a:lnTo>
                <a:lnTo>
                  <a:pt x="5339603" y="3053540"/>
                </a:lnTo>
                <a:lnTo>
                  <a:pt x="5325028" y="3063333"/>
                </a:lnTo>
                <a:lnTo>
                  <a:pt x="5307203" y="3066923"/>
                </a:lnTo>
                <a:lnTo>
                  <a:pt x="45720" y="3066923"/>
                </a:lnTo>
                <a:lnTo>
                  <a:pt x="27914" y="3063333"/>
                </a:lnTo>
                <a:lnTo>
                  <a:pt x="13382" y="3053540"/>
                </a:lnTo>
                <a:lnTo>
                  <a:pt x="3589" y="3039008"/>
                </a:lnTo>
                <a:lnTo>
                  <a:pt x="0" y="302120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/home/claude/pdfimg/final/g8_2_wireshark_ipv6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0" y="1581150"/>
            <a:ext cx="5200650" cy="2628900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310376" y="1509775"/>
          <a:ext cx="5429250" cy="3066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3050"/>
              </a:tblGrid>
              <a:tr h="276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8.2</a:t>
                      </a:r>
                      <a:r>
                        <a:rPr dirty="0" sz="95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rate-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limited,</a:t>
                      </a:r>
                      <a:r>
                        <a:rPr dirty="0" sz="950" spc="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fallback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IPv6→IPv4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6393179" y="4702746"/>
            <a:ext cx="5121275" cy="653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▪"/>
              <a:tabLst>
                <a:tab pos="354965" algn="l"/>
              </a:tabLst>
            </a:pP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Percobaan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koneksi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awal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via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IPv6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(::1)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ditolak</a:t>
            </a:r>
            <a:r>
              <a:rPr dirty="0" sz="1050" spc="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server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(RST,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ACK)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karena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hanya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listen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IPv4</a:t>
            </a:r>
            <a:endParaRPr sz="1050">
              <a:latin typeface="Calibri"/>
              <a:cs typeface="Calibri"/>
            </a:endParaRPr>
          </a:p>
          <a:p>
            <a:pPr marL="355600" marR="9525" indent="-342900">
              <a:lnSpc>
                <a:spcPct val="113300"/>
              </a:lnSpc>
              <a:spcBef>
                <a:spcPts val="825"/>
              </a:spcBef>
              <a:buChar char="▪"/>
              <a:tabLst>
                <a:tab pos="355600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Sistem</a:t>
            </a:r>
            <a:r>
              <a:rPr dirty="0" sz="1050" spc="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otomatis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fallback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ke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127.0.0.1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perilaku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dual-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stack</a:t>
            </a:r>
            <a:r>
              <a:rPr dirty="0" sz="1050" spc="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networking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mirip</a:t>
            </a:r>
            <a:r>
              <a:rPr dirty="0" sz="1050" spc="-3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mekanisme Happy</a:t>
            </a:r>
            <a:r>
              <a:rPr dirty="0" sz="1050" spc="-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Eyeballs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711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5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O</a:t>
            </a:r>
            <a:r>
              <a:rPr dirty="0" sz="1200" spc="-4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B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R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V</a:t>
            </a:r>
            <a:r>
              <a:rPr dirty="0" sz="1200" spc="-8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10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B</a:t>
            </a:r>
            <a:r>
              <a:rPr dirty="0" sz="1200" spc="-5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">
                <a:solidFill>
                  <a:srgbClr val="0A2445"/>
                </a:solidFill>
              </a:rPr>
              <a:t>Traffic</a:t>
            </a:r>
            <a:r>
              <a:rPr dirty="0" spc="-11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Evidence</a:t>
            </a:r>
            <a:r>
              <a:rPr dirty="0" spc="-11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Wireshark</a:t>
            </a:r>
            <a:r>
              <a:rPr dirty="0" spc="-95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(2/2)</a:t>
            </a:r>
          </a:p>
        </p:txBody>
      </p:sp>
      <p:sp>
        <p:nvSpPr>
          <p:cNvPr id="4" name="object 4"/>
          <p:cNvSpPr/>
          <p:nvPr/>
        </p:nvSpPr>
        <p:spPr>
          <a:xfrm>
            <a:off x="557212" y="1509775"/>
            <a:ext cx="3658235" cy="3067050"/>
          </a:xfrm>
          <a:custGeom>
            <a:avLst/>
            <a:gdLst/>
            <a:ahLst/>
            <a:cxnLst/>
            <a:rect l="l" t="t" r="r" b="b"/>
            <a:pathLst>
              <a:path w="3658235" h="3067050">
                <a:moveTo>
                  <a:pt x="0" y="45720"/>
                </a:moveTo>
                <a:lnTo>
                  <a:pt x="3598" y="27914"/>
                </a:lnTo>
                <a:lnTo>
                  <a:pt x="13411" y="13382"/>
                </a:lnTo>
                <a:lnTo>
                  <a:pt x="27967" y="3589"/>
                </a:lnTo>
                <a:lnTo>
                  <a:pt x="45796" y="0"/>
                </a:lnTo>
                <a:lnTo>
                  <a:pt x="3611816" y="0"/>
                </a:lnTo>
                <a:lnTo>
                  <a:pt x="3629642" y="3589"/>
                </a:lnTo>
                <a:lnTo>
                  <a:pt x="3644217" y="13382"/>
                </a:lnTo>
                <a:lnTo>
                  <a:pt x="3654053" y="27914"/>
                </a:lnTo>
                <a:lnTo>
                  <a:pt x="3657663" y="45720"/>
                </a:lnTo>
                <a:lnTo>
                  <a:pt x="3657663" y="3021203"/>
                </a:lnTo>
                <a:lnTo>
                  <a:pt x="3654053" y="3039008"/>
                </a:lnTo>
                <a:lnTo>
                  <a:pt x="3644217" y="3053540"/>
                </a:lnTo>
                <a:lnTo>
                  <a:pt x="3629642" y="3063333"/>
                </a:lnTo>
                <a:lnTo>
                  <a:pt x="3611816" y="3066923"/>
                </a:lnTo>
                <a:lnTo>
                  <a:pt x="45796" y="3066923"/>
                </a:lnTo>
                <a:lnTo>
                  <a:pt x="27967" y="3063333"/>
                </a:lnTo>
                <a:lnTo>
                  <a:pt x="13411" y="3053540"/>
                </a:lnTo>
                <a:lnTo>
                  <a:pt x="3598" y="3039008"/>
                </a:lnTo>
                <a:lnTo>
                  <a:pt x="0" y="302120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/home/claude/pdfimg/final/g8_3_wireshark_head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581150"/>
            <a:ext cx="3514725" cy="262890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7212" y="1509775"/>
          <a:ext cx="3734435" cy="3066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/>
              </a:tblGrid>
              <a:tr h="276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8.3 —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 HTTP</a:t>
                      </a:r>
                      <a:r>
                        <a:rPr dirty="0" sz="95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header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348226" y="1509775"/>
            <a:ext cx="3657600" cy="3067050"/>
          </a:xfrm>
          <a:custGeom>
            <a:avLst/>
            <a:gdLst/>
            <a:ahLst/>
            <a:cxnLst/>
            <a:rect l="l" t="t" r="r" b="b"/>
            <a:pathLst>
              <a:path w="3657600" h="3067050">
                <a:moveTo>
                  <a:pt x="0" y="45720"/>
                </a:moveTo>
                <a:lnTo>
                  <a:pt x="3589" y="27914"/>
                </a:lnTo>
                <a:lnTo>
                  <a:pt x="13382" y="13382"/>
                </a:lnTo>
                <a:lnTo>
                  <a:pt x="27914" y="3589"/>
                </a:lnTo>
                <a:lnTo>
                  <a:pt x="45720" y="0"/>
                </a:lnTo>
                <a:lnTo>
                  <a:pt x="3611753" y="0"/>
                </a:lnTo>
                <a:lnTo>
                  <a:pt x="3629578" y="3589"/>
                </a:lnTo>
                <a:lnTo>
                  <a:pt x="3644153" y="13382"/>
                </a:lnTo>
                <a:lnTo>
                  <a:pt x="3653990" y="27914"/>
                </a:lnTo>
                <a:lnTo>
                  <a:pt x="3657600" y="45720"/>
                </a:lnTo>
                <a:lnTo>
                  <a:pt x="3657600" y="3021203"/>
                </a:lnTo>
                <a:lnTo>
                  <a:pt x="3653990" y="3039008"/>
                </a:lnTo>
                <a:lnTo>
                  <a:pt x="3644153" y="3053540"/>
                </a:lnTo>
                <a:lnTo>
                  <a:pt x="3629578" y="3063333"/>
                </a:lnTo>
                <a:lnTo>
                  <a:pt x="3611753" y="3066923"/>
                </a:lnTo>
                <a:lnTo>
                  <a:pt x="45720" y="3066923"/>
                </a:lnTo>
                <a:lnTo>
                  <a:pt x="27914" y="3063333"/>
                </a:lnTo>
                <a:lnTo>
                  <a:pt x="13382" y="3053540"/>
                </a:lnTo>
                <a:lnTo>
                  <a:pt x="3589" y="3039008"/>
                </a:lnTo>
                <a:lnTo>
                  <a:pt x="0" y="302120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/home/claude/pdfimg/final/g8_4_wireshark_http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600" y="1581150"/>
            <a:ext cx="3505200" cy="2628900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348226" y="1509775"/>
          <a:ext cx="3733800" cy="3066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/>
              </a:tblGrid>
              <a:tr h="276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8.4</a:t>
                      </a:r>
                      <a:r>
                        <a:rPr dirty="0" sz="95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Filter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http,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multi-request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8139176" y="1509775"/>
            <a:ext cx="3524250" cy="3067050"/>
          </a:xfrm>
          <a:custGeom>
            <a:avLst/>
            <a:gdLst/>
            <a:ahLst/>
            <a:cxnLst/>
            <a:rect l="l" t="t" r="r" b="b"/>
            <a:pathLst>
              <a:path w="3524250" h="3067050">
                <a:moveTo>
                  <a:pt x="0" y="45720"/>
                </a:moveTo>
                <a:lnTo>
                  <a:pt x="3589" y="27914"/>
                </a:lnTo>
                <a:lnTo>
                  <a:pt x="13382" y="13382"/>
                </a:lnTo>
                <a:lnTo>
                  <a:pt x="27914" y="3589"/>
                </a:lnTo>
                <a:lnTo>
                  <a:pt x="45720" y="0"/>
                </a:lnTo>
                <a:lnTo>
                  <a:pt x="3478403" y="0"/>
                </a:lnTo>
                <a:lnTo>
                  <a:pt x="3496228" y="3589"/>
                </a:lnTo>
                <a:lnTo>
                  <a:pt x="3510803" y="13382"/>
                </a:lnTo>
                <a:lnTo>
                  <a:pt x="3520640" y="27914"/>
                </a:lnTo>
                <a:lnTo>
                  <a:pt x="3524250" y="45720"/>
                </a:lnTo>
                <a:lnTo>
                  <a:pt x="3524250" y="3021203"/>
                </a:lnTo>
                <a:lnTo>
                  <a:pt x="3520640" y="3039008"/>
                </a:lnTo>
                <a:lnTo>
                  <a:pt x="3510803" y="3053540"/>
                </a:lnTo>
                <a:lnTo>
                  <a:pt x="3496228" y="3063333"/>
                </a:lnTo>
                <a:lnTo>
                  <a:pt x="3478403" y="3066923"/>
                </a:lnTo>
                <a:lnTo>
                  <a:pt x="45720" y="3066923"/>
                </a:lnTo>
                <a:lnTo>
                  <a:pt x="27914" y="3063333"/>
                </a:lnTo>
                <a:lnTo>
                  <a:pt x="13382" y="3053540"/>
                </a:lnTo>
                <a:lnTo>
                  <a:pt x="3589" y="3039008"/>
                </a:lnTo>
                <a:lnTo>
                  <a:pt x="0" y="3021203"/>
                </a:lnTo>
                <a:lnTo>
                  <a:pt x="0" y="45720"/>
                </a:lnTo>
                <a:close/>
              </a:path>
            </a:pathLst>
          </a:custGeom>
          <a:ln w="12700">
            <a:solidFill>
              <a:srgbClr val="D6DEE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/home/claude/pdfimg/final/g8_5_wireshark_n8n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50" y="1581150"/>
            <a:ext cx="3371850" cy="2628900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139176" y="1509775"/>
          <a:ext cx="3600450" cy="3066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4250"/>
              </a:tblGrid>
              <a:tr h="276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Gambar</a:t>
                      </a:r>
                      <a:r>
                        <a:rPr dirty="0" sz="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8.5 —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Traffic</a:t>
                      </a:r>
                      <a:r>
                        <a:rPr dirty="0" sz="950" spc="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n8n: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r>
                        <a:rPr dirty="0" sz="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OK</a:t>
                      </a:r>
                      <a:r>
                        <a:rPr dirty="0" sz="95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429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F4A200"/>
                    </a:solidFill>
                  </a:tcPr>
                </a:tc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48075" y="5248338"/>
            <a:ext cx="338137" cy="2809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86225" y="5248338"/>
            <a:ext cx="338137" cy="28098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28015" y="4702746"/>
            <a:ext cx="10516235" cy="75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Header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lengkap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(User-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Agent,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Host,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Accept,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dll.)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terekam</a:t>
            </a:r>
            <a:r>
              <a:rPr dirty="0" sz="1050" spc="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untuk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setiap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request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memudahkan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audit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teknis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har char="▪"/>
              <a:tabLst>
                <a:tab pos="3549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Filter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http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menunjukkan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traffic</a:t>
            </a:r>
            <a:r>
              <a:rPr dirty="0" sz="1050" spc="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lebih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luas: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static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asset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&amp;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endpoint</a:t>
            </a:r>
            <a:r>
              <a:rPr dirty="0" sz="1050" spc="-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API lain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yang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sempat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 diakses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har char="▪"/>
              <a:tabLst>
                <a:tab pos="354965" algn="l"/>
                <a:tab pos="3305810" algn="l"/>
                <a:tab pos="3745865" algn="l"/>
              </a:tabLst>
            </a:pP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Capture</a:t>
            </a:r>
            <a:r>
              <a:rPr dirty="0" sz="1050" spc="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ketiga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membuktikan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komunikasi</a:t>
            </a:r>
            <a:r>
              <a:rPr dirty="0" sz="1050" spc="-6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Postman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	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n8n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	Reliability</a:t>
            </a:r>
            <a:r>
              <a:rPr dirty="0" sz="1050" spc="2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API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berjalan</a:t>
            </a:r>
            <a:r>
              <a:rPr dirty="0" sz="1050" spc="-5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di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atas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protokol</a:t>
            </a:r>
            <a:r>
              <a:rPr dirty="0" sz="1050" spc="-4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HTTP,</a:t>
            </a:r>
            <a:r>
              <a:rPr dirty="0" sz="1050" spc="-5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dengan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response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200</a:t>
            </a:r>
            <a:r>
              <a:rPr dirty="0" sz="1050" spc="-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OK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maupun</a:t>
            </a:r>
            <a:r>
              <a:rPr dirty="0" sz="1050" spc="2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429</a:t>
            </a:r>
            <a:r>
              <a:rPr dirty="0" sz="1050" spc="-3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Too</a:t>
            </a:r>
            <a:r>
              <a:rPr dirty="0" sz="1050" spc="1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Many</a:t>
            </a:r>
            <a:r>
              <a:rPr dirty="0" sz="1050" spc="-4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Requests</a:t>
            </a:r>
            <a:r>
              <a:rPr dirty="0" sz="1050" spc="10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2445"/>
                </a:solidFill>
                <a:latin typeface="Calibri"/>
                <a:cs typeface="Calibri"/>
              </a:rPr>
              <a:t>sama-sama</a:t>
            </a:r>
            <a:r>
              <a:rPr dirty="0" sz="1050" spc="-5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A2445"/>
                </a:solidFill>
                <a:latin typeface="Calibri"/>
                <a:cs typeface="Calibri"/>
              </a:rPr>
              <a:t>terekam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13003"/>
            <a:ext cx="1210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6</a:t>
            </a:r>
            <a:r>
              <a:rPr dirty="0" sz="1200" spc="3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·</a:t>
            </a:r>
            <a:r>
              <a:rPr dirty="0" sz="1200" spc="38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N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A</a:t>
            </a:r>
            <a:r>
              <a:rPr dirty="0" sz="1200" spc="-10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L</a:t>
            </a:r>
            <a:r>
              <a:rPr dirty="0" sz="1200" spc="-3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Y</a:t>
            </a:r>
            <a:r>
              <a:rPr dirty="0" sz="1200" spc="-75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C7192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C7192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C7192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A2445"/>
                </a:solidFill>
              </a:rPr>
              <a:t>Reliability</a:t>
            </a:r>
            <a:r>
              <a:rPr dirty="0" spc="-70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Analysis</a:t>
            </a:r>
            <a:r>
              <a:rPr dirty="0" spc="-105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—</a:t>
            </a:r>
            <a:r>
              <a:rPr dirty="0" spc="-80">
                <a:solidFill>
                  <a:srgbClr val="0A2445"/>
                </a:solidFill>
              </a:rPr>
              <a:t> </a:t>
            </a:r>
            <a:r>
              <a:rPr dirty="0">
                <a:solidFill>
                  <a:srgbClr val="0A2445"/>
                </a:solidFill>
              </a:rPr>
              <a:t>Ringkasan</a:t>
            </a:r>
            <a:r>
              <a:rPr dirty="0" spc="-60">
                <a:solidFill>
                  <a:srgbClr val="0A2445"/>
                </a:solidFill>
              </a:rPr>
              <a:t> </a:t>
            </a:r>
            <a:r>
              <a:rPr dirty="0" spc="-10">
                <a:solidFill>
                  <a:srgbClr val="0A2445"/>
                </a:solidFill>
              </a:rPr>
              <a:t>Temuan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1733550"/>
            <a:ext cx="123825" cy="133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0894" y="1598231"/>
            <a:ext cx="89217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Rate</a:t>
            </a:r>
            <a:r>
              <a:rPr dirty="0" sz="1250" spc="8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A2445"/>
                </a:solidFill>
                <a:latin typeface="Calibri"/>
                <a:cs typeface="Calibri"/>
              </a:rPr>
              <a:t>limiting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0239" y="1617281"/>
            <a:ext cx="548386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Fixed</a:t>
            </a:r>
            <a:r>
              <a:rPr dirty="0" sz="1100" spc="8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window</a:t>
            </a:r>
            <a:r>
              <a:rPr dirty="0" sz="1100" spc="2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counter</a:t>
            </a:r>
            <a:r>
              <a:rPr dirty="0" sz="1100" spc="16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(3</a:t>
            </a:r>
            <a:r>
              <a:rPr dirty="0" sz="1100" spc="114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req/10s);</a:t>
            </a:r>
            <a:r>
              <a:rPr dirty="0" sz="1100" spc="18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retryAfterSeconds</a:t>
            </a:r>
            <a:r>
              <a:rPr dirty="0" sz="1100" spc="2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mendukung</a:t>
            </a:r>
            <a:r>
              <a:rPr dirty="0" sz="1100" spc="7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strategi</a:t>
            </a:r>
            <a:r>
              <a:rPr dirty="0" sz="1100" spc="1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retry</a:t>
            </a:r>
            <a:r>
              <a:rPr dirty="0" sz="1100" spc="10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di</a:t>
            </a:r>
            <a:r>
              <a:rPr dirty="0" sz="1100" spc="1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sisi</a:t>
            </a:r>
            <a:r>
              <a:rPr dirty="0" sz="1100" spc="1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client.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447925"/>
            <a:ext cx="123825" cy="1333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10894" y="2312606"/>
            <a:ext cx="105410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Load</a:t>
            </a:r>
            <a:r>
              <a:rPr dirty="0" sz="1250" spc="114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A2445"/>
                </a:solidFill>
                <a:latin typeface="Calibri"/>
                <a:cs typeface="Calibri"/>
              </a:rPr>
              <a:t>balancing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0239" y="2331973"/>
            <a:ext cx="500761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Urutan</a:t>
            </a:r>
            <a:r>
              <a:rPr dirty="0" sz="1100" spc="8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backend</a:t>
            </a:r>
            <a:r>
              <a:rPr dirty="0" sz="1100" spc="9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(b,a,c)</a:t>
            </a:r>
            <a:r>
              <a:rPr dirty="0" sz="1100" spc="2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tidak</a:t>
            </a:r>
            <a:r>
              <a:rPr dirty="0" sz="1100" spc="9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round</a:t>
            </a:r>
            <a:r>
              <a:rPr dirty="0" sz="1100" spc="9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robin/least-latency</a:t>
            </a:r>
            <a:r>
              <a:rPr dirty="0" sz="1100" spc="21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→</a:t>
            </a:r>
            <a:r>
              <a:rPr dirty="0" sz="1100" spc="1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indikasi</a:t>
            </a:r>
            <a:r>
              <a:rPr dirty="0" sz="1100" spc="1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random</a:t>
            </a:r>
            <a:r>
              <a:rPr dirty="0" sz="1100" spc="19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selection.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162300"/>
            <a:ext cx="123825" cy="1333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10894" y="3026727"/>
            <a:ext cx="96710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Error</a:t>
            </a:r>
            <a:r>
              <a:rPr dirty="0" sz="1250" spc="4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A2445"/>
                </a:solidFill>
                <a:latin typeface="Calibri"/>
                <a:cs typeface="Calibri"/>
              </a:rPr>
              <a:t>contract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90239" y="3045777"/>
            <a:ext cx="46558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Response</a:t>
            </a:r>
            <a:r>
              <a:rPr dirty="0" sz="1100" spc="7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error</a:t>
            </a:r>
            <a:r>
              <a:rPr dirty="0" sz="1100" spc="1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konsisten</a:t>
            </a:r>
            <a:r>
              <a:rPr dirty="0" sz="1100" spc="13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menyertakan</a:t>
            </a:r>
            <a:r>
              <a:rPr dirty="0" sz="1100" spc="1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message/error,</a:t>
            </a:r>
            <a:r>
              <a:rPr dirty="0" sz="1100" spc="5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limit,</a:t>
            </a:r>
            <a:r>
              <a:rPr dirty="0" sz="1100" spc="5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windowSeconds.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2450" y="3876675"/>
            <a:ext cx="123825" cy="12382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10894" y="3741102"/>
            <a:ext cx="98742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Gap</a:t>
            </a:r>
            <a:r>
              <a:rPr dirty="0" sz="1250" spc="8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A2445"/>
                </a:solidFill>
                <a:latin typeface="Calibri"/>
                <a:cs typeface="Calibri"/>
              </a:rPr>
              <a:t>reliability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0239" y="3760470"/>
            <a:ext cx="477964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simulate-load</a:t>
            </a:r>
            <a:r>
              <a:rPr dirty="0" sz="1100" spc="15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tidak</a:t>
            </a:r>
            <a:r>
              <a:rPr dirty="0" sz="1100" spc="6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validasi</a:t>
            </a:r>
            <a:r>
              <a:rPr dirty="0" sz="1100" spc="1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tipe</a:t>
            </a:r>
            <a:r>
              <a:rPr dirty="0" sz="1100" spc="2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data</a:t>
            </a:r>
            <a:r>
              <a:rPr dirty="0" sz="1100" spc="1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→</a:t>
            </a:r>
            <a:r>
              <a:rPr dirty="0" sz="1100" spc="9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socket</a:t>
            </a:r>
            <a:r>
              <a:rPr dirty="0" sz="1100" spc="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hang</a:t>
            </a:r>
            <a:r>
              <a:rPr dirty="0" sz="1100" spc="4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up,</a:t>
            </a:r>
            <a:r>
              <a:rPr dirty="0" sz="1100" spc="17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bukan</a:t>
            </a:r>
            <a:r>
              <a:rPr dirty="0" sz="1100" spc="5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error</a:t>
            </a:r>
            <a:r>
              <a:rPr dirty="0" sz="1100" spc="1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terstruktur.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450" y="4591050"/>
            <a:ext cx="123825" cy="12382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10894" y="4455223"/>
            <a:ext cx="115443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Partial</a:t>
            </a:r>
            <a:r>
              <a:rPr dirty="0" sz="1250" spc="9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A2445"/>
                </a:solidFill>
                <a:latin typeface="Calibri"/>
                <a:cs typeface="Calibri"/>
              </a:rPr>
              <a:t>resilience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90239" y="4474273"/>
            <a:ext cx="48660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Kegagalan</a:t>
            </a:r>
            <a:r>
              <a:rPr dirty="0" sz="1100" spc="10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bersifat</a:t>
            </a:r>
            <a:r>
              <a:rPr dirty="0" sz="1100" spc="9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isolated</a:t>
            </a:r>
            <a:r>
              <a:rPr dirty="0" sz="1100" spc="10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per-request;</a:t>
            </a:r>
            <a:r>
              <a:rPr dirty="0" sz="1100" spc="204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endpoint</a:t>
            </a:r>
            <a:r>
              <a:rPr dirty="0" sz="1100" spc="204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reset</a:t>
            </a:r>
            <a:r>
              <a:rPr dirty="0" sz="1100" spc="2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tetap</a:t>
            </a:r>
            <a:r>
              <a:rPr dirty="0" sz="1100" spc="22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B79"/>
                </a:solidFill>
                <a:latin typeface="Calibri"/>
                <a:cs typeface="Calibri"/>
              </a:rPr>
              <a:t>berhasil</a:t>
            </a:r>
            <a:r>
              <a:rPr dirty="0" sz="1100" spc="16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setelahnya.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450" y="5305425"/>
            <a:ext cx="123825" cy="12382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10894" y="5169598"/>
            <a:ext cx="99758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Workflow</a:t>
            </a:r>
            <a:r>
              <a:rPr dirty="0" sz="1250" spc="10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0A2445"/>
                </a:solidFill>
                <a:latin typeface="Calibri"/>
                <a:cs typeface="Calibri"/>
              </a:rPr>
              <a:t>n8n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90239" y="5188966"/>
            <a:ext cx="807402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Decision</a:t>
            </a:r>
            <a:r>
              <a:rPr dirty="0" sz="1100" spc="2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node</a:t>
            </a:r>
            <a:r>
              <a:rPr dirty="0" sz="1100" spc="6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evaluasi</a:t>
            </a:r>
            <a:r>
              <a:rPr dirty="0" sz="1100" spc="6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benar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(200→TRUE_BRANCH),</a:t>
            </a:r>
            <a:r>
              <a:rPr dirty="0" sz="1100" spc="3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8/8</a:t>
            </a:r>
            <a:r>
              <a:rPr dirty="0" sz="1100" spc="4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test</a:t>
            </a:r>
            <a:r>
              <a:rPr dirty="0" sz="1100" spc="1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lolos;</a:t>
            </a:r>
            <a:r>
              <a:rPr dirty="0" sz="1100" spc="10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konteks</a:t>
            </a:r>
            <a:r>
              <a:rPr dirty="0" sz="1100" spc="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reliability</a:t>
            </a:r>
            <a:r>
              <a:rPr dirty="0" sz="1100" spc="114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(remaining,</a:t>
            </a:r>
            <a:r>
              <a:rPr dirty="0" sz="1100" spc="125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limit)</a:t>
            </a:r>
            <a:r>
              <a:rPr dirty="0" sz="1100" spc="14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diteruskan</a:t>
            </a:r>
            <a:r>
              <a:rPr dirty="0" sz="1100" spc="2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transparan</a:t>
            </a:r>
            <a:r>
              <a:rPr dirty="0" sz="1100" spc="21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5B6B79"/>
                </a:solidFill>
                <a:latin typeface="Calibri"/>
                <a:cs typeface="Calibri"/>
              </a:rPr>
              <a:t>ke</a:t>
            </a:r>
            <a:r>
              <a:rPr dirty="0" sz="1100" spc="80">
                <a:solidFill>
                  <a:srgbClr val="5B6B7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B79"/>
                </a:solidFill>
                <a:latin typeface="Calibri"/>
                <a:cs typeface="Calibri"/>
              </a:rPr>
              <a:t>client.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4512" y="5983287"/>
            <a:ext cx="11122025" cy="606425"/>
            <a:chOff x="544512" y="5983287"/>
            <a:chExt cx="11122025" cy="606425"/>
          </a:xfrm>
        </p:grpSpPr>
        <p:sp>
          <p:nvSpPr>
            <p:cNvPr id="23" name="object 23"/>
            <p:cNvSpPr/>
            <p:nvPr/>
          </p:nvSpPr>
          <p:spPr>
            <a:xfrm>
              <a:off x="552450" y="5991225"/>
              <a:ext cx="11106150" cy="590550"/>
            </a:xfrm>
            <a:custGeom>
              <a:avLst/>
              <a:gdLst/>
              <a:ahLst/>
              <a:cxnLst/>
              <a:rect l="l" t="t" r="r" b="b"/>
              <a:pathLst>
                <a:path w="11106150" h="590550">
                  <a:moveTo>
                    <a:pt x="11042523" y="0"/>
                  </a:moveTo>
                  <a:lnTo>
                    <a:pt x="63601" y="0"/>
                  </a:lnTo>
                  <a:lnTo>
                    <a:pt x="38844" y="4997"/>
                  </a:lnTo>
                  <a:lnTo>
                    <a:pt x="18627" y="18627"/>
                  </a:lnTo>
                  <a:lnTo>
                    <a:pt x="4997" y="38844"/>
                  </a:lnTo>
                  <a:lnTo>
                    <a:pt x="0" y="63601"/>
                  </a:lnTo>
                  <a:lnTo>
                    <a:pt x="0" y="526948"/>
                  </a:lnTo>
                  <a:lnTo>
                    <a:pt x="4997" y="551705"/>
                  </a:lnTo>
                  <a:lnTo>
                    <a:pt x="18627" y="571922"/>
                  </a:lnTo>
                  <a:lnTo>
                    <a:pt x="38844" y="585552"/>
                  </a:lnTo>
                  <a:lnTo>
                    <a:pt x="63601" y="590550"/>
                  </a:lnTo>
                  <a:lnTo>
                    <a:pt x="11042523" y="590550"/>
                  </a:lnTo>
                  <a:lnTo>
                    <a:pt x="11067305" y="585552"/>
                  </a:lnTo>
                  <a:lnTo>
                    <a:pt x="11087528" y="571922"/>
                  </a:lnTo>
                  <a:lnTo>
                    <a:pt x="11101155" y="551705"/>
                  </a:lnTo>
                  <a:lnTo>
                    <a:pt x="11106150" y="526948"/>
                  </a:lnTo>
                  <a:lnTo>
                    <a:pt x="11106150" y="63601"/>
                  </a:lnTo>
                  <a:lnTo>
                    <a:pt x="11101155" y="38844"/>
                  </a:lnTo>
                  <a:lnTo>
                    <a:pt x="11087528" y="18627"/>
                  </a:lnTo>
                  <a:lnTo>
                    <a:pt x="11067305" y="4997"/>
                  </a:lnTo>
                  <a:lnTo>
                    <a:pt x="11042523" y="0"/>
                  </a:lnTo>
                  <a:close/>
                </a:path>
              </a:pathLst>
            </a:custGeom>
            <a:solidFill>
              <a:srgbClr val="FFF4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52450" y="5991225"/>
              <a:ext cx="11106150" cy="590550"/>
            </a:xfrm>
            <a:custGeom>
              <a:avLst/>
              <a:gdLst/>
              <a:ahLst/>
              <a:cxnLst/>
              <a:rect l="l" t="t" r="r" b="b"/>
              <a:pathLst>
                <a:path w="11106150" h="590550">
                  <a:moveTo>
                    <a:pt x="0" y="63601"/>
                  </a:moveTo>
                  <a:lnTo>
                    <a:pt x="4997" y="38844"/>
                  </a:lnTo>
                  <a:lnTo>
                    <a:pt x="18627" y="18627"/>
                  </a:lnTo>
                  <a:lnTo>
                    <a:pt x="38844" y="4997"/>
                  </a:lnTo>
                  <a:lnTo>
                    <a:pt x="63601" y="0"/>
                  </a:lnTo>
                  <a:lnTo>
                    <a:pt x="11042523" y="0"/>
                  </a:lnTo>
                  <a:lnTo>
                    <a:pt x="11067305" y="4997"/>
                  </a:lnTo>
                  <a:lnTo>
                    <a:pt x="11087528" y="18627"/>
                  </a:lnTo>
                  <a:lnTo>
                    <a:pt x="11101155" y="38844"/>
                  </a:lnTo>
                  <a:lnTo>
                    <a:pt x="11106150" y="63601"/>
                  </a:lnTo>
                  <a:lnTo>
                    <a:pt x="11106150" y="526948"/>
                  </a:lnTo>
                  <a:lnTo>
                    <a:pt x="11101155" y="551705"/>
                  </a:lnTo>
                  <a:lnTo>
                    <a:pt x="11087528" y="571922"/>
                  </a:lnTo>
                  <a:lnTo>
                    <a:pt x="11067305" y="585552"/>
                  </a:lnTo>
                  <a:lnTo>
                    <a:pt x="11042523" y="590550"/>
                  </a:lnTo>
                  <a:lnTo>
                    <a:pt x="63601" y="590550"/>
                  </a:lnTo>
                  <a:lnTo>
                    <a:pt x="38844" y="585552"/>
                  </a:lnTo>
                  <a:lnTo>
                    <a:pt x="18627" y="571922"/>
                  </a:lnTo>
                  <a:lnTo>
                    <a:pt x="4997" y="551705"/>
                  </a:lnTo>
                  <a:lnTo>
                    <a:pt x="0" y="526948"/>
                  </a:lnTo>
                  <a:lnTo>
                    <a:pt x="0" y="63601"/>
                  </a:lnTo>
                  <a:close/>
                </a:path>
              </a:pathLst>
            </a:custGeom>
            <a:ln w="15875">
              <a:solidFill>
                <a:srgbClr val="F4A2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5800" y="6096000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180975" y="0"/>
                  </a:moveTo>
                  <a:lnTo>
                    <a:pt x="132864" y="6464"/>
                  </a:lnTo>
                  <a:lnTo>
                    <a:pt x="89633" y="24708"/>
                  </a:lnTo>
                  <a:lnTo>
                    <a:pt x="53006" y="53006"/>
                  </a:lnTo>
                  <a:lnTo>
                    <a:pt x="24708" y="89633"/>
                  </a:lnTo>
                  <a:lnTo>
                    <a:pt x="6464" y="132864"/>
                  </a:lnTo>
                  <a:lnTo>
                    <a:pt x="0" y="180975"/>
                  </a:lnTo>
                  <a:lnTo>
                    <a:pt x="0" y="190500"/>
                  </a:lnTo>
                  <a:lnTo>
                    <a:pt x="6464" y="238610"/>
                  </a:lnTo>
                  <a:lnTo>
                    <a:pt x="24708" y="281841"/>
                  </a:lnTo>
                  <a:lnTo>
                    <a:pt x="53006" y="318468"/>
                  </a:lnTo>
                  <a:lnTo>
                    <a:pt x="89633" y="346766"/>
                  </a:lnTo>
                  <a:lnTo>
                    <a:pt x="132864" y="365010"/>
                  </a:lnTo>
                  <a:lnTo>
                    <a:pt x="180975" y="371475"/>
                  </a:lnTo>
                  <a:lnTo>
                    <a:pt x="229085" y="365010"/>
                  </a:lnTo>
                  <a:lnTo>
                    <a:pt x="272316" y="346766"/>
                  </a:lnTo>
                  <a:lnTo>
                    <a:pt x="308943" y="318468"/>
                  </a:lnTo>
                  <a:lnTo>
                    <a:pt x="337241" y="281841"/>
                  </a:lnTo>
                  <a:lnTo>
                    <a:pt x="355485" y="238610"/>
                  </a:lnTo>
                  <a:lnTo>
                    <a:pt x="361950" y="190500"/>
                  </a:lnTo>
                  <a:lnTo>
                    <a:pt x="361950" y="180975"/>
                  </a:lnTo>
                  <a:lnTo>
                    <a:pt x="355485" y="132864"/>
                  </a:lnTo>
                  <a:lnTo>
                    <a:pt x="337241" y="89633"/>
                  </a:lnTo>
                  <a:lnTo>
                    <a:pt x="308943" y="53006"/>
                  </a:lnTo>
                  <a:lnTo>
                    <a:pt x="272316" y="24708"/>
                  </a:lnTo>
                  <a:lnTo>
                    <a:pt x="229085" y="6464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F4A2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52450" y="5991225"/>
            <a:ext cx="11106150" cy="5905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endParaRPr sz="105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tabLst>
                <a:tab pos="636905" algn="l"/>
              </a:tabLst>
            </a:pP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!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baseline="5291" sz="1575" spc="-15" i="1">
                <a:solidFill>
                  <a:srgbClr val="0A2445"/>
                </a:solidFill>
                <a:latin typeface="Calibri"/>
                <a:cs typeface="Calibri"/>
              </a:rPr>
              <a:t>Troubleshooting: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spc="-15" i="1">
                <a:solidFill>
                  <a:srgbClr val="0A2445"/>
                </a:solidFill>
                <a:latin typeface="Calibri"/>
                <a:cs typeface="Calibri"/>
              </a:rPr>
              <a:t>pengujian</a:t>
            </a:r>
            <a:r>
              <a:rPr dirty="0" baseline="5291" sz="1575" spc="-44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manual</a:t>
            </a:r>
            <a:r>
              <a:rPr dirty="0" baseline="5291" sz="1575" spc="-52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di</a:t>
            </a:r>
            <a:r>
              <a:rPr dirty="0" baseline="5291" sz="1575" spc="-44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Postman</a:t>
            </a:r>
            <a:r>
              <a:rPr dirty="0" baseline="5291" sz="1575" spc="-44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spc="-15" i="1">
                <a:solidFill>
                  <a:srgbClr val="0A2445"/>
                </a:solidFill>
                <a:latin typeface="Calibri"/>
                <a:cs typeface="Calibri"/>
              </a:rPr>
              <a:t>tanpa</a:t>
            </a:r>
            <a:r>
              <a:rPr dirty="0" baseline="5291" sz="1575" spc="-52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retry</a:t>
            </a:r>
            <a:r>
              <a:rPr dirty="0" baseline="5291" sz="1575" spc="60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otomatis</a:t>
            </a:r>
            <a:r>
              <a:rPr dirty="0" baseline="5291" sz="1575" spc="37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di</a:t>
            </a:r>
            <a:r>
              <a:rPr dirty="0" baseline="5291" sz="1575" spc="-52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sisi</a:t>
            </a:r>
            <a:r>
              <a:rPr dirty="0" baseline="5291" sz="1575" spc="67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spc="-15" i="1">
                <a:solidFill>
                  <a:srgbClr val="0A2445"/>
                </a:solidFill>
                <a:latin typeface="Calibri"/>
                <a:cs typeface="Calibri"/>
              </a:rPr>
              <a:t>client,</a:t>
            </a:r>
            <a:r>
              <a:rPr dirty="0" baseline="5291" sz="1575" spc="22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meski</a:t>
            </a:r>
            <a:r>
              <a:rPr dirty="0" baseline="5291" sz="1575" spc="67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server sudah</a:t>
            </a:r>
            <a:r>
              <a:rPr dirty="0" baseline="5291" sz="1575" spc="-52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spc="-15" i="1">
                <a:solidFill>
                  <a:srgbClr val="0A2445"/>
                </a:solidFill>
                <a:latin typeface="Calibri"/>
                <a:cs typeface="Calibri"/>
              </a:rPr>
              <a:t>menyediakan</a:t>
            </a:r>
            <a:r>
              <a:rPr dirty="0" baseline="5291" sz="1575" spc="-44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retryAfterSeconds</a:t>
            </a:r>
            <a:r>
              <a:rPr dirty="0" baseline="5291" sz="1575" spc="37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yang</a:t>
            </a:r>
            <a:r>
              <a:rPr dirty="0" baseline="5291" sz="1575" spc="-52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i="1">
                <a:solidFill>
                  <a:srgbClr val="0A2445"/>
                </a:solidFill>
                <a:latin typeface="Calibri"/>
                <a:cs typeface="Calibri"/>
              </a:rPr>
              <a:t>bisa</a:t>
            </a:r>
            <a:r>
              <a:rPr dirty="0" baseline="5291" sz="1575" spc="-44" i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baseline="5291" sz="1575" spc="-15" i="1">
                <a:solidFill>
                  <a:srgbClr val="0A2445"/>
                </a:solidFill>
                <a:latin typeface="Calibri"/>
                <a:cs typeface="Calibri"/>
              </a:rPr>
              <a:t>dimanfaatkan.</a:t>
            </a:r>
            <a:endParaRPr baseline="5291" sz="1575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244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134350" y="2190750"/>
            <a:ext cx="4057650" cy="4667250"/>
            <a:chOff x="8134350" y="2190750"/>
            <a:chExt cx="4057650" cy="4667250"/>
          </a:xfrm>
        </p:grpSpPr>
        <p:sp>
          <p:nvSpPr>
            <p:cNvPr id="4" name="object 4"/>
            <p:cNvSpPr/>
            <p:nvPr/>
          </p:nvSpPr>
          <p:spPr>
            <a:xfrm>
              <a:off x="8134350" y="2190749"/>
              <a:ext cx="4057650" cy="4667250"/>
            </a:xfrm>
            <a:custGeom>
              <a:avLst/>
              <a:gdLst/>
              <a:ahLst/>
              <a:cxnLst/>
              <a:rect l="l" t="t" r="r" b="b"/>
              <a:pathLst>
                <a:path w="4057650" h="4667250">
                  <a:moveTo>
                    <a:pt x="4057650" y="2274900"/>
                  </a:moveTo>
                  <a:lnTo>
                    <a:pt x="3994289" y="2259152"/>
                  </a:lnTo>
                  <a:lnTo>
                    <a:pt x="3948760" y="2249093"/>
                  </a:lnTo>
                  <a:lnTo>
                    <a:pt x="3902887" y="2239949"/>
                  </a:lnTo>
                  <a:lnTo>
                    <a:pt x="3856698" y="2231733"/>
                  </a:lnTo>
                  <a:lnTo>
                    <a:pt x="3810177" y="2224443"/>
                  </a:lnTo>
                  <a:lnTo>
                    <a:pt x="3763365" y="2218093"/>
                  </a:lnTo>
                  <a:lnTo>
                    <a:pt x="3716261" y="2212695"/>
                  </a:lnTo>
                  <a:lnTo>
                    <a:pt x="3668865" y="2208250"/>
                  </a:lnTo>
                  <a:lnTo>
                    <a:pt x="3621189" y="2204783"/>
                  </a:lnTo>
                  <a:lnTo>
                    <a:pt x="3619500" y="2204707"/>
                  </a:lnTo>
                  <a:lnTo>
                    <a:pt x="3619500" y="73279"/>
                  </a:lnTo>
                  <a:lnTo>
                    <a:pt x="3613747" y="44742"/>
                  </a:lnTo>
                  <a:lnTo>
                    <a:pt x="3598049" y="21450"/>
                  </a:lnTo>
                  <a:lnTo>
                    <a:pt x="3574758" y="5753"/>
                  </a:lnTo>
                  <a:lnTo>
                    <a:pt x="3546221" y="0"/>
                  </a:lnTo>
                  <a:lnTo>
                    <a:pt x="73279" y="0"/>
                  </a:lnTo>
                  <a:lnTo>
                    <a:pt x="44729" y="5753"/>
                  </a:lnTo>
                  <a:lnTo>
                    <a:pt x="21437" y="21450"/>
                  </a:lnTo>
                  <a:lnTo>
                    <a:pt x="5740" y="44742"/>
                  </a:lnTo>
                  <a:lnTo>
                    <a:pt x="0" y="73279"/>
                  </a:lnTo>
                  <a:lnTo>
                    <a:pt x="0" y="3955783"/>
                  </a:lnTo>
                  <a:lnTo>
                    <a:pt x="5740" y="3984320"/>
                  </a:lnTo>
                  <a:lnTo>
                    <a:pt x="21437" y="4007612"/>
                  </a:lnTo>
                  <a:lnTo>
                    <a:pt x="44729" y="4023322"/>
                  </a:lnTo>
                  <a:lnTo>
                    <a:pt x="73279" y="4029075"/>
                  </a:lnTo>
                  <a:lnTo>
                    <a:pt x="1236446" y="4029075"/>
                  </a:lnTo>
                  <a:lnTo>
                    <a:pt x="1230287" y="4060012"/>
                  </a:lnTo>
                  <a:lnTo>
                    <a:pt x="1222070" y="4106202"/>
                  </a:lnTo>
                  <a:lnTo>
                    <a:pt x="1214780" y="4152722"/>
                  </a:lnTo>
                  <a:lnTo>
                    <a:pt x="1208430" y="4199534"/>
                  </a:lnTo>
                  <a:lnTo>
                    <a:pt x="1203032" y="4246638"/>
                  </a:lnTo>
                  <a:lnTo>
                    <a:pt x="1198587" y="4294035"/>
                  </a:lnTo>
                  <a:lnTo>
                    <a:pt x="1195120" y="4341711"/>
                  </a:lnTo>
                  <a:lnTo>
                    <a:pt x="1192618" y="4389653"/>
                  </a:lnTo>
                  <a:lnTo>
                    <a:pt x="1191120" y="4437837"/>
                  </a:lnTo>
                  <a:lnTo>
                    <a:pt x="1190625" y="4486275"/>
                  </a:lnTo>
                  <a:lnTo>
                    <a:pt x="1191120" y="4534725"/>
                  </a:lnTo>
                  <a:lnTo>
                    <a:pt x="1192618" y="4582909"/>
                  </a:lnTo>
                  <a:lnTo>
                    <a:pt x="1195120" y="4630852"/>
                  </a:lnTo>
                  <a:lnTo>
                    <a:pt x="1197762" y="4667250"/>
                  </a:lnTo>
                  <a:lnTo>
                    <a:pt x="4057650" y="4667250"/>
                  </a:lnTo>
                  <a:lnTo>
                    <a:pt x="4057650" y="2274900"/>
                  </a:lnTo>
                  <a:close/>
                </a:path>
              </a:pathLst>
            </a:custGeom>
            <a:solidFill>
              <a:srgbClr val="123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34350" y="2190749"/>
              <a:ext cx="3619500" cy="504825"/>
            </a:xfrm>
            <a:custGeom>
              <a:avLst/>
              <a:gdLst/>
              <a:ahLst/>
              <a:cxnLst/>
              <a:rect l="l" t="t" r="r" b="b"/>
              <a:pathLst>
                <a:path w="3619500" h="504825">
                  <a:moveTo>
                    <a:pt x="3619500" y="0"/>
                  </a:moveTo>
                  <a:lnTo>
                    <a:pt x="3562350" y="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504825"/>
                  </a:lnTo>
                  <a:lnTo>
                    <a:pt x="3619500" y="504825"/>
                  </a:lnTo>
                  <a:lnTo>
                    <a:pt x="3619500" y="57150"/>
                  </a:lnTo>
                  <a:lnTo>
                    <a:pt x="3619500" y="0"/>
                  </a:lnTo>
                  <a:close/>
                </a:path>
              </a:pathLst>
            </a:custGeom>
            <a:solidFill>
              <a:srgbClr val="1C71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28015" y="413003"/>
            <a:ext cx="1130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4A200"/>
                </a:solidFill>
                <a:latin typeface="Calibri"/>
                <a:cs typeface="Calibri"/>
              </a:rPr>
              <a:t>0</a:t>
            </a:r>
            <a:r>
              <a:rPr dirty="0" sz="120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4A200"/>
                </a:solidFill>
                <a:latin typeface="Calibri"/>
                <a:cs typeface="Calibri"/>
              </a:rPr>
              <a:t>7</a:t>
            </a:r>
            <a:r>
              <a:rPr dirty="0" sz="1200" spc="3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4A200"/>
                </a:solidFill>
                <a:latin typeface="Calibri"/>
                <a:cs typeface="Calibri"/>
              </a:rPr>
              <a:t>·</a:t>
            </a:r>
            <a:r>
              <a:rPr dirty="0" sz="1200" spc="3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4A200"/>
                </a:solidFill>
                <a:latin typeface="Calibri"/>
                <a:cs typeface="Calibri"/>
              </a:rPr>
              <a:t>C</a:t>
            </a:r>
            <a:r>
              <a:rPr dirty="0" sz="1200" spc="-10" b="1">
                <a:solidFill>
                  <a:srgbClr val="F4A200"/>
                </a:solidFill>
                <a:latin typeface="Calibri"/>
                <a:cs typeface="Calibri"/>
              </a:rPr>
              <a:t> L</a:t>
            </a:r>
            <a:r>
              <a:rPr dirty="0" sz="1200" spc="-11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4A200"/>
                </a:solidFill>
                <a:latin typeface="Calibri"/>
                <a:cs typeface="Calibri"/>
              </a:rPr>
              <a:t>O</a:t>
            </a:r>
            <a:r>
              <a:rPr dirty="0" sz="1200" spc="-35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4A200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4A200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4A200"/>
                </a:solidFill>
                <a:latin typeface="Calibri"/>
                <a:cs typeface="Calibri"/>
              </a:rPr>
              <a:t>N</a:t>
            </a:r>
            <a:r>
              <a:rPr dirty="0" sz="1200" spc="-90" b="1">
                <a:solidFill>
                  <a:srgbClr val="F4A200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F4A200"/>
                </a:solidFill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Kesimpulan,</a:t>
            </a:r>
            <a:r>
              <a:rPr dirty="0" spc="-60"/>
              <a:t> </a:t>
            </a:r>
            <a:r>
              <a:rPr dirty="0"/>
              <a:t>Limitation</a:t>
            </a:r>
            <a:r>
              <a:rPr dirty="0" spc="-95"/>
              <a:t> </a:t>
            </a:r>
            <a:r>
              <a:rPr dirty="0"/>
              <a:t>&amp;</a:t>
            </a:r>
            <a:r>
              <a:rPr dirty="0" spc="20"/>
              <a:t> </a:t>
            </a:r>
            <a:r>
              <a:rPr dirty="0" spc="-10"/>
              <a:t>Improvement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257" y="1457832"/>
            <a:ext cx="10570210" cy="483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95"/>
              </a:spcBef>
            </a:pP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Project</a:t>
            </a:r>
            <a:r>
              <a:rPr dirty="0" sz="1250" spc="1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berhasil</a:t>
            </a:r>
            <a:r>
              <a:rPr dirty="0" sz="1250" spc="9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membuktikan</a:t>
            </a:r>
            <a:r>
              <a:rPr dirty="0" sz="125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rate</a:t>
            </a:r>
            <a:r>
              <a:rPr dirty="0" sz="1250" spc="16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limiting</a:t>
            </a:r>
            <a:r>
              <a:rPr dirty="0" sz="125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(fixed</a:t>
            </a:r>
            <a:r>
              <a:rPr dirty="0" sz="1250" spc="10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window,</a:t>
            </a:r>
            <a:r>
              <a:rPr dirty="0" sz="1250" spc="6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limit</a:t>
            </a:r>
            <a:r>
              <a:rPr dirty="0" sz="125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3/10</a:t>
            </a:r>
            <a:r>
              <a:rPr dirty="0" sz="1250" spc="12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detik)</a:t>
            </a:r>
            <a:r>
              <a:rPr dirty="0" sz="1250" spc="15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dan</a:t>
            </a:r>
            <a:r>
              <a:rPr dirty="0" sz="125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load</a:t>
            </a:r>
            <a:r>
              <a:rPr dirty="0" sz="125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balancing</a:t>
            </a:r>
            <a:r>
              <a:rPr dirty="0" sz="125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(distribusi</a:t>
            </a:r>
            <a:r>
              <a:rPr dirty="0" sz="1250" spc="9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ke</a:t>
            </a:r>
            <a:r>
              <a:rPr dirty="0" sz="1250" spc="8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3</a:t>
            </a:r>
            <a:r>
              <a:rPr dirty="0" sz="1250" spc="12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backend</a:t>
            </a:r>
            <a:r>
              <a:rPr dirty="0" sz="1250" spc="11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node)</a:t>
            </a:r>
            <a:r>
              <a:rPr dirty="0" sz="1250" spc="13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bekerja</a:t>
            </a:r>
            <a:r>
              <a:rPr dirty="0" sz="1250" spc="10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nyata,</a:t>
            </a:r>
            <a:r>
              <a:rPr dirty="0" sz="1250" spc="15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didukung</a:t>
            </a:r>
            <a:r>
              <a:rPr dirty="0" sz="1250" spc="10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E8F0F5"/>
                </a:solidFill>
                <a:latin typeface="Calibri"/>
                <a:cs typeface="Calibri"/>
              </a:rPr>
              <a:t>evidence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Postman,</a:t>
            </a:r>
            <a:r>
              <a:rPr dirty="0" sz="1250" spc="65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n8n</a:t>
            </a:r>
            <a:r>
              <a:rPr dirty="0" sz="1250" spc="114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&amp;</a:t>
            </a:r>
            <a:r>
              <a:rPr dirty="0" sz="1250" spc="130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Wireshark</a:t>
            </a:r>
            <a:r>
              <a:rPr dirty="0" sz="1250" spc="114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E8F0F5"/>
                </a:solidFill>
                <a:latin typeface="Calibri"/>
                <a:cs typeface="Calibri"/>
              </a:rPr>
              <a:t>yang</a:t>
            </a:r>
            <a:r>
              <a:rPr dirty="0" sz="1250" spc="114" i="1">
                <a:solidFill>
                  <a:srgbClr val="E8F0F5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E8F0F5"/>
                </a:solidFill>
                <a:latin typeface="Calibri"/>
                <a:cs typeface="Calibri"/>
              </a:rPr>
              <a:t>lengkap.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2450" y="2190750"/>
            <a:ext cx="3609975" cy="4029075"/>
            <a:chOff x="552450" y="2190750"/>
            <a:chExt cx="3609975" cy="4029075"/>
          </a:xfrm>
        </p:grpSpPr>
        <p:sp>
          <p:nvSpPr>
            <p:cNvPr id="10" name="object 10"/>
            <p:cNvSpPr/>
            <p:nvPr/>
          </p:nvSpPr>
          <p:spPr>
            <a:xfrm>
              <a:off x="552450" y="2190750"/>
              <a:ext cx="3609975" cy="4029075"/>
            </a:xfrm>
            <a:custGeom>
              <a:avLst/>
              <a:gdLst/>
              <a:ahLst/>
              <a:cxnLst/>
              <a:rect l="l" t="t" r="r" b="b"/>
              <a:pathLst>
                <a:path w="3609975" h="4029075">
                  <a:moveTo>
                    <a:pt x="3536823" y="0"/>
                  </a:moveTo>
                  <a:lnTo>
                    <a:pt x="73101" y="0"/>
                  </a:lnTo>
                  <a:lnTo>
                    <a:pt x="44646" y="5750"/>
                  </a:lnTo>
                  <a:lnTo>
                    <a:pt x="21410" y="21431"/>
                  </a:lnTo>
                  <a:lnTo>
                    <a:pt x="5744" y="44684"/>
                  </a:lnTo>
                  <a:lnTo>
                    <a:pt x="0" y="73151"/>
                  </a:lnTo>
                  <a:lnTo>
                    <a:pt x="0" y="3955973"/>
                  </a:lnTo>
                  <a:lnTo>
                    <a:pt x="5744" y="3984428"/>
                  </a:lnTo>
                  <a:lnTo>
                    <a:pt x="21410" y="4007664"/>
                  </a:lnTo>
                  <a:lnTo>
                    <a:pt x="44646" y="4023330"/>
                  </a:lnTo>
                  <a:lnTo>
                    <a:pt x="73101" y="4029075"/>
                  </a:lnTo>
                  <a:lnTo>
                    <a:pt x="3536823" y="4029075"/>
                  </a:lnTo>
                  <a:lnTo>
                    <a:pt x="3565290" y="4023330"/>
                  </a:lnTo>
                  <a:lnTo>
                    <a:pt x="3588543" y="4007664"/>
                  </a:lnTo>
                  <a:lnTo>
                    <a:pt x="3604224" y="3984428"/>
                  </a:lnTo>
                  <a:lnTo>
                    <a:pt x="3609975" y="3955973"/>
                  </a:lnTo>
                  <a:lnTo>
                    <a:pt x="3609975" y="73151"/>
                  </a:lnTo>
                  <a:lnTo>
                    <a:pt x="3604224" y="44684"/>
                  </a:lnTo>
                  <a:lnTo>
                    <a:pt x="3588543" y="21431"/>
                  </a:lnTo>
                  <a:lnTo>
                    <a:pt x="3565290" y="5750"/>
                  </a:lnTo>
                  <a:lnTo>
                    <a:pt x="3536823" y="0"/>
                  </a:lnTo>
                  <a:close/>
                </a:path>
              </a:pathLst>
            </a:custGeom>
            <a:solidFill>
              <a:srgbClr val="123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2450" y="2190749"/>
              <a:ext cx="3609975" cy="504825"/>
            </a:xfrm>
            <a:custGeom>
              <a:avLst/>
              <a:gdLst/>
              <a:ahLst/>
              <a:cxnLst/>
              <a:rect l="l" t="t" r="r" b="b"/>
              <a:pathLst>
                <a:path w="3609975" h="504825">
                  <a:moveTo>
                    <a:pt x="3609975" y="0"/>
                  </a:moveTo>
                  <a:lnTo>
                    <a:pt x="3552825" y="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504825"/>
                  </a:lnTo>
                  <a:lnTo>
                    <a:pt x="3609975" y="504825"/>
                  </a:lnTo>
                  <a:lnTo>
                    <a:pt x="3609975" y="57150"/>
                  </a:lnTo>
                  <a:lnTo>
                    <a:pt x="3609975" y="0"/>
                  </a:lnTo>
                  <a:close/>
                </a:path>
              </a:pathLst>
            </a:custGeom>
            <a:solidFill>
              <a:srgbClr val="F4A2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52450" y="2190750"/>
            <a:ext cx="3609975" cy="50482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1205"/>
              </a:spcBef>
            </a:pPr>
            <a:r>
              <a:rPr dirty="0" sz="1250" spc="70" b="1">
                <a:solidFill>
                  <a:srgbClr val="0A2445"/>
                </a:solidFill>
                <a:latin typeface="Calibri"/>
                <a:cs typeface="Calibri"/>
              </a:rPr>
              <a:t>LI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85" b="1">
                <a:solidFill>
                  <a:srgbClr val="0A2445"/>
                </a:solidFill>
                <a:latin typeface="Calibri"/>
                <a:cs typeface="Calibri"/>
              </a:rPr>
              <a:t>MI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60" b="1">
                <a:solidFill>
                  <a:srgbClr val="0A2445"/>
                </a:solidFill>
                <a:latin typeface="Calibri"/>
                <a:cs typeface="Calibri"/>
              </a:rPr>
              <a:t>TA</a:t>
            </a:r>
            <a:r>
              <a:rPr dirty="0" sz="1250" spc="-8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60" b="1">
                <a:solidFill>
                  <a:srgbClr val="0A2445"/>
                </a:solidFill>
                <a:latin typeface="Calibri"/>
                <a:cs typeface="Calibri"/>
              </a:rPr>
              <a:t>TI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O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-50" b="1">
                <a:solidFill>
                  <a:srgbClr val="0A2445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4237" y="2898330"/>
            <a:ext cx="2649220" cy="626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2900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Algoritma</a:t>
            </a:r>
            <a:r>
              <a:rPr dirty="0" sz="11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balancer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tidak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konsisten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round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robin/least-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r>
              <a:rPr dirty="0" sz="11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— tidak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dapat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dipastikan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tanpa</a:t>
            </a:r>
            <a:r>
              <a:rPr dirty="0" sz="11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akses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4237" y="3671061"/>
            <a:ext cx="2814320" cy="4260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Endpoint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simulate-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belum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memvalidasi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tipe</a:t>
            </a:r>
            <a:r>
              <a:rPr dirty="0" sz="11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socket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hang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up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4237" y="4233481"/>
            <a:ext cx="2851150" cy="426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Pengujian</a:t>
            </a:r>
            <a:r>
              <a:rPr dirty="0" sz="11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masih</a:t>
            </a:r>
            <a:r>
              <a:rPr dirty="0" sz="11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dirty="0" sz="11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Postman,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belum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ada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retry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otomatis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dirty="0" sz="11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sisi</a:t>
            </a:r>
            <a:r>
              <a:rPr dirty="0" sz="1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43400" y="2190750"/>
            <a:ext cx="3609975" cy="4029075"/>
            <a:chOff x="4343400" y="2190750"/>
            <a:chExt cx="3609975" cy="4029075"/>
          </a:xfrm>
        </p:grpSpPr>
        <p:sp>
          <p:nvSpPr>
            <p:cNvPr id="17" name="object 17"/>
            <p:cNvSpPr/>
            <p:nvPr/>
          </p:nvSpPr>
          <p:spPr>
            <a:xfrm>
              <a:off x="4343400" y="2190750"/>
              <a:ext cx="3609975" cy="4029075"/>
            </a:xfrm>
            <a:custGeom>
              <a:avLst/>
              <a:gdLst/>
              <a:ahLst/>
              <a:cxnLst/>
              <a:rect l="l" t="t" r="r" b="b"/>
              <a:pathLst>
                <a:path w="3609975" h="4029075">
                  <a:moveTo>
                    <a:pt x="3536823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5973"/>
                  </a:lnTo>
                  <a:lnTo>
                    <a:pt x="5750" y="3984428"/>
                  </a:lnTo>
                  <a:lnTo>
                    <a:pt x="21431" y="4007664"/>
                  </a:lnTo>
                  <a:lnTo>
                    <a:pt x="44684" y="4023330"/>
                  </a:lnTo>
                  <a:lnTo>
                    <a:pt x="73151" y="4029075"/>
                  </a:lnTo>
                  <a:lnTo>
                    <a:pt x="3536823" y="4029075"/>
                  </a:lnTo>
                  <a:lnTo>
                    <a:pt x="3565290" y="4023330"/>
                  </a:lnTo>
                  <a:lnTo>
                    <a:pt x="3588543" y="4007664"/>
                  </a:lnTo>
                  <a:lnTo>
                    <a:pt x="3604224" y="3984428"/>
                  </a:lnTo>
                  <a:lnTo>
                    <a:pt x="3609975" y="3955973"/>
                  </a:lnTo>
                  <a:lnTo>
                    <a:pt x="3609975" y="73151"/>
                  </a:lnTo>
                  <a:lnTo>
                    <a:pt x="3604224" y="44684"/>
                  </a:lnTo>
                  <a:lnTo>
                    <a:pt x="3588543" y="21431"/>
                  </a:lnTo>
                  <a:lnTo>
                    <a:pt x="3565290" y="5750"/>
                  </a:lnTo>
                  <a:lnTo>
                    <a:pt x="3536823" y="0"/>
                  </a:lnTo>
                  <a:close/>
                </a:path>
              </a:pathLst>
            </a:custGeom>
            <a:solidFill>
              <a:srgbClr val="123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43400" y="2190749"/>
              <a:ext cx="3609975" cy="504825"/>
            </a:xfrm>
            <a:custGeom>
              <a:avLst/>
              <a:gdLst/>
              <a:ahLst/>
              <a:cxnLst/>
              <a:rect l="l" t="t" r="r" b="b"/>
              <a:pathLst>
                <a:path w="3609975" h="504825">
                  <a:moveTo>
                    <a:pt x="3609975" y="0"/>
                  </a:moveTo>
                  <a:lnTo>
                    <a:pt x="3552825" y="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504825"/>
                  </a:lnTo>
                  <a:lnTo>
                    <a:pt x="3609975" y="504825"/>
                  </a:lnTo>
                  <a:lnTo>
                    <a:pt x="3609975" y="57150"/>
                  </a:lnTo>
                  <a:lnTo>
                    <a:pt x="3609975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343400" y="2190750"/>
            <a:ext cx="3609975" cy="50482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20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I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110" b="1">
                <a:solidFill>
                  <a:srgbClr val="0A2445"/>
                </a:solidFill>
                <a:latin typeface="Calibri"/>
                <a:cs typeface="Calibri"/>
              </a:rPr>
              <a:t>MPR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O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114" b="1">
                <a:solidFill>
                  <a:srgbClr val="0A2445"/>
                </a:solidFill>
                <a:latin typeface="Calibri"/>
                <a:cs typeface="Calibri"/>
              </a:rPr>
              <a:t>VEME</a:t>
            </a:r>
            <a:r>
              <a:rPr dirty="0" sz="1250" spc="-7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45" b="1">
                <a:solidFill>
                  <a:srgbClr val="0A2445"/>
                </a:solidFill>
                <a:latin typeface="Calibri"/>
                <a:cs typeface="Calibri"/>
              </a:rPr>
              <a:t>NT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4681854" y="2898330"/>
            <a:ext cx="2786380" cy="4260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Tambahkan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validasi</a:t>
            </a:r>
            <a:r>
              <a:rPr dirty="0" sz="11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tipe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1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pada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seluruh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endpoint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POST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1854" y="3451479"/>
            <a:ext cx="2728595" cy="445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252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Implementasikan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 retry</a:t>
            </a:r>
            <a:r>
              <a:rPr dirty="0" sz="1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otomatis memanfaatkan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header</a:t>
            </a:r>
            <a:r>
              <a:rPr dirty="0" sz="11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retryAfterSeconds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1854" y="4033329"/>
            <a:ext cx="2818130" cy="4260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Tambahkan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logging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dirty="0" sz="1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sisi</a:t>
            </a:r>
            <a:r>
              <a:rPr dirty="0" sz="1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server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untuk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observability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tanpa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capture</a:t>
            </a:r>
            <a:r>
              <a:rPr dirty="0" sz="1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34350" y="2190750"/>
            <a:ext cx="3619500" cy="50482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205"/>
              </a:spcBef>
            </a:pP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R</a:t>
            </a:r>
            <a:r>
              <a:rPr dirty="0" sz="1250" spc="-10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65" b="1">
                <a:solidFill>
                  <a:srgbClr val="0A2445"/>
                </a:solidFill>
                <a:latin typeface="Calibri"/>
                <a:cs typeface="Calibri"/>
              </a:rPr>
              <a:t>EF</a:t>
            </a:r>
            <a:r>
              <a:rPr dirty="0" sz="1250" spc="-114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L</a:t>
            </a:r>
            <a:r>
              <a:rPr dirty="0" sz="1250" spc="-7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100" b="1">
                <a:solidFill>
                  <a:srgbClr val="0A2445"/>
                </a:solidFill>
                <a:latin typeface="Calibri"/>
                <a:cs typeface="Calibri"/>
              </a:rPr>
              <a:t>ECT</a:t>
            </a:r>
            <a:r>
              <a:rPr dirty="0" sz="1250" spc="-80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A2445"/>
                </a:solidFill>
                <a:latin typeface="Calibri"/>
                <a:cs typeface="Calibri"/>
              </a:rPr>
              <a:t>I</a:t>
            </a:r>
            <a:r>
              <a:rPr dirty="0" sz="1250" spc="-95" b="1">
                <a:solidFill>
                  <a:srgbClr val="0A2445"/>
                </a:solidFill>
                <a:latin typeface="Calibri"/>
                <a:cs typeface="Calibri"/>
              </a:rPr>
              <a:t> </a:t>
            </a:r>
            <a:r>
              <a:rPr dirty="0" sz="1250" spc="35" b="1">
                <a:solidFill>
                  <a:srgbClr val="0A2445"/>
                </a:solidFill>
                <a:latin typeface="Calibri"/>
                <a:cs typeface="Calibri"/>
              </a:rPr>
              <a:t>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79535" y="2898330"/>
            <a:ext cx="2701290" cy="626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Reliability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bukan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hanya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soal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endpoint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berjalan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benar,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tapi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bagaimana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sistem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menangani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kondisi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tidak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ideal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79535" y="3671061"/>
            <a:ext cx="2819400" cy="626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Menemukan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celah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dirty="0" sz="11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di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simulate-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menjadi</a:t>
            </a:r>
            <a:r>
              <a:rPr dirty="0" sz="11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pembelajaran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paling berharga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79535" y="4434014"/>
            <a:ext cx="2826385" cy="4260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195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Pengujian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failure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scenario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sama</a:t>
            </a:r>
            <a:r>
              <a:rPr dirty="0" sz="11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pentingnya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dengan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success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scenario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2026-07-12T00:27:49Z</dcterms:created>
  <dcterms:modified xsi:type="dcterms:W3CDTF">2026-07-12T00:27:49Z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2026-07-11T00:00:00Z</vt:filetime>
  </property>
  <property fmtid="{D5CDD505-2E9C-101B-9397-08002B2CF9AE}" pid="4" name="LastSaved">
    <vt:filetime>2026-07-12T00:00:00Z</vt:filetime>
  </property>
</Properties>
</file>